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jury members, welcome to our presentation on CivicSolve. Traditional governance treats civic problems as isolated complaints lost in bureaucratic silos. CivicSolve reimagines this paradigm: we have built an AI-powered societal innovation platform that converts everyday citizen grievances into accredited, funded, and deployed engineering solutions by connecting Citizens, Municipal Nodal Officers, University R&amp;D Labs, and Industry CSR Partners into a seamless, verifiable 8-stage innovation lifecycle.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India's municipal corporations, millions of localized civic bottlenecks are reported every year. Yet, municipal engineers are overwhelmed by duplicate, unstructured complaints; university students build synthetic academic projects that never reach the field; and industry CSR funds are disbursed blindly. Civic bottlenecks remain unsolved because there is no technical bridge connecting these four vital pillars.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portals like CPGRAMS are passive complaint boxes. Once a citizen files a ticket, it sits in a queue waiting for manual assignment. If a ticket requires novel technical engineering—like automated turbidity telemetry or edge AI pothole detection—the municipality has no mechanism to build it. CivicSolve turns complaints into active technical challenges, deploying university engineering power backed by industry sponsorship.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CivicSolve is not merely a website; it is an operating system for civic innovation. It establishes an end-to-end pipeline: a citizen reports a contaminated water line in Sangam Vihar; our AI engine analyzes the turbidity risk within 1.4 seconds; the zonal engineer validates the priority; the platform automatically matches the challenge with DTU's Hydro-Lab; student engineers build an IoT pressure probe mentored by a Siemens engineer; and the prototype is deployed with live sensor telemetry.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six flagship features of CivicSolve, all fully functional in our codebase today: First, our Neural AI Diagnostic Engine providing instant severity indexing. Second, non-intrusive duplicate detection that protects municipal teams from ticket floods. Third, the CivicSolve AI Assistant copilot that guides citizens and drafts structured technical parameters. Fourth, the Government Admin triage desk. Fifth, our Quad-Mesh University Workspace tracking Technology Readiness Levels. And sixth, real-time telemetry curves monitoring live field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CivicSolve bridges four distinct user roles, each with tailored UI views and authorization rights: Citizens submit geotagged issues; Government Admins review and sanction tickets; Universities claim approved challenges to build hardware and software solutions; and Industry Partners sponsor development kits and provide technical mentorship. Our built-in Role Switcher allows any evaluator to test these perspectives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8-stage innovation lifecycle is the core engine of CivicSolve. Rather than letting issues stagnate, each ticket transitions through verifiable gates: from citizen intake to AI triage, government validation, academic matching, student R&amp;D sprints, corporate mentorship, field deployment, and finally, public social audit. Every step produces permanent, transparent artifacts.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technical architecture follows modern industry best practices: a React 18 TypeScript Single-Page Application communicating via REST with a high-speed Express backend. All AI interactions are strictly proxied on the server to prevent API key exposure. Crucially, we have implemented an intelligent deterministic fallback engine so the platform never fails if third-party LLM APIs encounter network latency.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 architecture centers around the Challenge entity, which transitions through seven discrete states from SUBMITTED to RESOLVED. When a challenge is approved and matched with an academic lab, it instantiates a Project entity complete with team composition, TRL status, active sprint tasks, mentor discussions, and real-time telemetry feeds.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an agile, highly performant technology stack: React 18 with Vite and TypeScript on the client for zero-latency interactions; Node.js and Express with TSX on the server; the Google Gemini API coupled with custom regex NLP for neural triage; and standard Tailwind design tokens matching our comprehensive Civic Innovation design system.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AI capabilities solve the biggest headache in municipal governance: bad, messy data. When a citizen types an informal complaint, our neural pipeline classifies the engineering domain, computes a 0 to 100 severity risk index, extracts semantic hashtags, recommends the best university lab, and flags nearby duplicate tickets within 450 meters. Furthermore, our AI Assistant acts as a 24/7 civic copilot right inside the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public sector software, security and ethics are paramount. First, CivicSolve implements strict Role-Based Access Control. Second, we built a non-negotiable Non-Executive AI Guardrail: our AI never promises money, approves tenders, or makes binding legal decisions—it solely assists human officials. Third, all citizen data complies with India's DPDP Act 2023. And fourth, our API keys remain completely sealed on the backend.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CivicSolve's unfair advantage? First, we are the only platform that turns a civic complaint into an accredited university R&amp;D project. Second, we eliminate 'ghost closures' through live IoT sensor telemetry. Third, our Quad-Stakeholder mesh creates true accountability. And fourth, our dual-engine architecture guarantees 100% uptime even in remote municipal offices with spotty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CivicSolve is economically and technically feasible today. It requires no costly new municipal infrastructure; instead, it activates the latent engineering capacity of our universities and directs existing mandatory corporate CSR funds. Our roadmap scales from our current Ward 14 pilot to metropolitan corporations, and ultimately integrates into the National Smart Cities Mission.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impact of CivicSolve is directly quantifiable: a 90% reduction in problem-to-lab routing time, 100% telemetry verification eliminating contractor ghost repairs, and tens of crores in municipal savings through preventative IoT triage. Furthermore, every challenge directly maps to United Nations Sustainable Development Goals, including Clean Water, Clean Air, and Zero Hunger.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our roadmap incorporates four high-impact extensions: First, integration with Government of India's Bhashini voice engine for 22 native Indian languages. Second, an on-device Edge AI mobile app for rural citizens. Third, smart-contract CSR escrows ensuring corporate funds release only when sensor telemetry verifies progress. And fourth, integration with ISRO Bhuvan satellite imagery.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Unlike many hackathon concepts that stop at Figma mockups, CivicSolve is a fully implemented, working web application. Every screen you see here—the citizen intake with GPS HUD, the AI triage sidebar, the municipal admin queue, the university project workspace with live SVG telemetry, and our floating AI chatbot—is running live on our system right now.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India does not lack engineering talent, nor does it lack civic goodwill. What has been missing is an intelligent, transparent platform connecting them. CivicSolve fills that void. It takes problems out of dead-end complaint boxes and turns them into deployable, accredited public infrastructure. We thank the jury for their time and welcome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We are now ready to demonstrate the live platform and answer any questions from the jury.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914400"/>
            <a:ext cx="4754880" cy="365760"/>
          </a:xfrm>
          <a:prstGeom prst="roundRect">
            <a:avLst/>
          </a:prstGeom>
          <a:solidFill>
            <a:srgbClr val="1E293B"/>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14B8A6"/>
                </a:solidFill>
              </a:defRPr>
            </a:pPr>
            <a:r>
              <a:t>SMART INDIA HACKATHON 2024  •  SOFTWARE EDITION</a:t>
            </a:r>
          </a:p>
        </p:txBody>
      </p:sp>
      <p:sp>
        <p:nvSpPr>
          <p:cNvPr id="3" name="TextBox 2"/>
          <p:cNvSpPr txBox="1"/>
          <p:nvPr/>
        </p:nvSpPr>
        <p:spPr>
          <a:xfrm>
            <a:off x="731520" y="1645920"/>
            <a:ext cx="10515600" cy="1280160"/>
          </a:xfrm>
          <a:prstGeom prst="rect">
            <a:avLst/>
          </a:prstGeom>
          <a:noFill/>
        </p:spPr>
        <p:txBody>
          <a:bodyPr wrap="square">
            <a:spAutoFit/>
          </a:bodyPr>
          <a:lstStyle/>
          <a:p>
            <a:pPr>
              <a:defRPr sz="5600" b="1">
                <a:solidFill>
                  <a:srgbClr val="FFFFFF"/>
                </a:solidFill>
                <a:latin typeface="Arial"/>
              </a:defRPr>
            </a:pPr>
            <a:r>
              <a:t>CivicSolve</a:t>
            </a:r>
          </a:p>
          <a:p>
            <a:pPr>
              <a:defRPr sz="2200">
                <a:solidFill>
                  <a:srgbClr val="14B8A6"/>
                </a:solidFill>
                <a:latin typeface="Arial"/>
              </a:defRPr>
            </a:pPr>
            <a:r>
              <a:t>AI-Powered Societal Innovation &amp; Quad-Stakeholder Collaboration Platform</a:t>
            </a:r>
          </a:p>
          <a:p>
            <a:pPr>
              <a:defRPr sz="1300">
                <a:solidFill>
                  <a:srgbClr val="64748B"/>
                </a:solidFill>
                <a:latin typeface="Arial"/>
              </a:defRPr>
            </a:pPr>
            <a:r>
              <a:t>A verifiable 8-stage innovation pipeline converting localized citizen grievances into accredited, funded public infrastructure.</a:t>
            </a:r>
          </a:p>
        </p:txBody>
      </p:sp>
      <p:sp>
        <p:nvSpPr>
          <p:cNvPr id="4" name="Rounded Rectangle 3"/>
          <p:cNvSpPr/>
          <p:nvPr/>
        </p:nvSpPr>
        <p:spPr>
          <a:xfrm>
            <a:off x="731520" y="4297680"/>
            <a:ext cx="2560320" cy="11887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4B8A6"/>
                </a:solidFill>
              </a:defRPr>
            </a:pPr>
            <a:r>
              <a:t>PROBLEM STATEMENT</a:t>
            </a:r>
          </a:p>
          <a:p>
            <a:pPr>
              <a:defRPr sz="1200" b="1">
                <a:solidFill>
                  <a:srgbClr val="FFFFFF"/>
                </a:solidFill>
              </a:defRPr>
            </a:pPr>
            <a:r>
              <a:t>[ENTER SIH PROBLEM STATEMENT / ID]</a:t>
            </a:r>
          </a:p>
        </p:txBody>
      </p:sp>
      <p:sp>
        <p:nvSpPr>
          <p:cNvPr id="5" name="Rounded Rectangle 4"/>
          <p:cNvSpPr/>
          <p:nvPr/>
        </p:nvSpPr>
        <p:spPr>
          <a:xfrm>
            <a:off x="3456432" y="4297680"/>
            <a:ext cx="2560320" cy="11887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4B8A6"/>
                </a:solidFill>
              </a:defRPr>
            </a:pPr>
            <a:r>
              <a:t>TEAM NAME</a:t>
            </a:r>
          </a:p>
          <a:p>
            <a:pPr>
              <a:defRPr sz="1200" b="1">
                <a:solidFill>
                  <a:srgbClr val="FFFFFF"/>
                </a:solidFill>
              </a:defRPr>
            </a:pPr>
            <a:r>
              <a:t>[ENTER TEAM NAME]</a:t>
            </a:r>
          </a:p>
        </p:txBody>
      </p:sp>
      <p:sp>
        <p:nvSpPr>
          <p:cNvPr id="6" name="Rounded Rectangle 5"/>
          <p:cNvSpPr/>
          <p:nvPr/>
        </p:nvSpPr>
        <p:spPr>
          <a:xfrm>
            <a:off x="6181344" y="4297680"/>
            <a:ext cx="2560320" cy="11887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4B8A6"/>
                </a:solidFill>
              </a:defRPr>
            </a:pPr>
            <a:r>
              <a:t>COLLEGE / INSTITUTION</a:t>
            </a:r>
          </a:p>
          <a:p>
            <a:pPr>
              <a:defRPr sz="1200" b="1">
                <a:solidFill>
                  <a:srgbClr val="FFFFFF"/>
                </a:solidFill>
              </a:defRPr>
            </a:pPr>
            <a:r>
              <a:t>[ENTER COLLEGE NAME]</a:t>
            </a:r>
          </a:p>
        </p:txBody>
      </p:sp>
      <p:sp>
        <p:nvSpPr>
          <p:cNvPr id="7" name="Rounded Rectangle 6"/>
          <p:cNvSpPr/>
          <p:nvPr/>
        </p:nvSpPr>
        <p:spPr>
          <a:xfrm>
            <a:off x="8906256" y="4297680"/>
            <a:ext cx="2560320" cy="11887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14B8A6"/>
                </a:solidFill>
              </a:defRPr>
            </a:pPr>
            <a:r>
              <a:t>CATEGORY</a:t>
            </a:r>
          </a:p>
          <a:p>
            <a:pPr>
              <a:defRPr sz="1200" b="1">
                <a:solidFill>
                  <a:srgbClr val="FFFFFF"/>
                </a:solidFill>
              </a:defRPr>
            </a:pPr>
            <a:r>
              <a:t>Smart Governance &amp; Civic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PROBLEM STATEMENT</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The Breakdown in Modern Civic Problem Resolution</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205740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EF4444"/>
                </a:solidFill>
              </a:defRPr>
            </a:pPr>
            <a:r>
              <a:t>CITIZENS &amp; COMMUNITIES</a:t>
            </a:r>
          </a:p>
          <a:p>
            <a:pPr>
              <a:defRPr sz="1400" b="1">
                <a:solidFill>
                  <a:srgbClr val="0F172A"/>
                </a:solidFill>
              </a:defRPr>
            </a:pPr>
            <a:r>
              <a:t>Fragmented &amp; Ignored Grievances</a:t>
            </a:r>
          </a:p>
          <a:p>
            <a:pPr>
              <a:defRPr sz="1100">
                <a:solidFill>
                  <a:srgbClr val="64748B"/>
                </a:solidFill>
              </a:defRPr>
            </a:pPr>
            <a:r>
              <a:t>Citizens face dangerous water contamination, toxic AQI, and road craters. Complaints vanish into opaque municipal portals with zero technical follow-through.</a:t>
            </a:r>
          </a:p>
        </p:txBody>
      </p:sp>
      <p:sp>
        <p:nvSpPr>
          <p:cNvPr id="6" name="Rounded Rectangle 5"/>
          <p:cNvSpPr/>
          <p:nvPr/>
        </p:nvSpPr>
        <p:spPr>
          <a:xfrm>
            <a:off x="6172200" y="1645920"/>
            <a:ext cx="5257800" cy="20574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59E0B"/>
                </a:solidFill>
              </a:defRPr>
            </a:pPr>
            <a:r>
              <a:t>MUNICIPAL AUTHORITIES</a:t>
            </a:r>
          </a:p>
          <a:p>
            <a:pPr>
              <a:defRPr sz="1400" b="1">
                <a:solidFill>
                  <a:srgbClr val="0F172A"/>
                </a:solidFill>
              </a:defRPr>
            </a:pPr>
            <a:r>
              <a:t>Triage Gridlock &amp; Duplicate Floods</a:t>
            </a:r>
          </a:p>
          <a:p>
            <a:pPr>
              <a:defRPr sz="1100">
                <a:solidFill>
                  <a:srgbClr val="64748B"/>
                </a:solidFill>
              </a:defRPr>
            </a:pPr>
            <a:r>
              <a:t>Zonal nodal officers are overwhelmed by thousands of duplicate complaints across wards. Manual sorting takes 10-14 days, resulting in delayed disaster response.</a:t>
            </a:r>
          </a:p>
        </p:txBody>
      </p:sp>
      <p:sp>
        <p:nvSpPr>
          <p:cNvPr id="7" name="Rounded Rectangle 6"/>
          <p:cNvSpPr/>
          <p:nvPr/>
        </p:nvSpPr>
        <p:spPr>
          <a:xfrm>
            <a:off x="731520" y="3931920"/>
            <a:ext cx="5257800"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defRPr>
            </a:pPr>
            <a:r>
              <a:t>UNIVERSITIES &amp; STUDENTS</a:t>
            </a:r>
          </a:p>
          <a:p>
            <a:pPr>
              <a:defRPr sz="1400" b="1">
                <a:solidFill>
                  <a:srgbClr val="0F172A"/>
                </a:solidFill>
              </a:defRPr>
            </a:pPr>
            <a:r>
              <a:t>Disconnected Innovation Labs</a:t>
            </a:r>
          </a:p>
          <a:p>
            <a:pPr>
              <a:defRPr sz="1100">
                <a:solidFill>
                  <a:srgbClr val="64748B"/>
                </a:solidFill>
              </a:defRPr>
            </a:pPr>
            <a:r>
              <a:t>Over 1.5 million engineering students across India build synthetic hackathon projects that never address real-world municipal infrastructure bottlenecks.</a:t>
            </a:r>
          </a:p>
        </p:txBody>
      </p:sp>
      <p:sp>
        <p:nvSpPr>
          <p:cNvPr id="8" name="Rounded Rectangle 7"/>
          <p:cNvSpPr/>
          <p:nvPr/>
        </p:nvSpPr>
        <p:spPr>
          <a:xfrm>
            <a:off x="6172200" y="3931920"/>
            <a:ext cx="5257800" cy="2057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006056"/>
                </a:solidFill>
              </a:defRPr>
            </a:pPr>
            <a:r>
              <a:t>INDUSTRY &amp; MSMES</a:t>
            </a:r>
          </a:p>
          <a:p>
            <a:pPr>
              <a:defRPr sz="1400" b="1">
                <a:solidFill>
                  <a:srgbClr val="0F172A"/>
                </a:solidFill>
              </a:defRPr>
            </a:pPr>
            <a:r>
              <a:t>Blind CSR Disbursements</a:t>
            </a:r>
          </a:p>
          <a:p>
            <a:pPr>
              <a:defRPr sz="1100">
                <a:solidFill>
                  <a:srgbClr val="64748B"/>
                </a:solidFill>
              </a:defRPr>
            </a:pPr>
            <a:r>
              <a:t>Corporations disburse ₹15,000+ Cr annually in mandatory CSR grants with no mechanism to audit field deployment, sensor proof, or measurable societal ROI.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CURRENT APPROACH VS INNOVATION GAP</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Why Legacy Grievance Portals Fail to Deliver Real Solutions</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457200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EF4444"/>
                </a:solidFill>
              </a:defRPr>
            </a:pPr>
            <a:r>
              <a:t>❌ LEGACY GRIEVANCE SYSTEMS (CPGRAMS / WARD DESKS)</a:t>
            </a:r>
          </a:p>
          <a:p>
            <a:pPr>
              <a:defRPr sz="1100">
                <a:solidFill>
                  <a:srgbClr val="0F172A"/>
                </a:solidFill>
              </a:defRPr>
            </a:pPr>
            <a:r>
              <a:t>• Static Complaint Boxes: Treats issues as paperwork tickets to close, not engineering challenges to solve.</a:t>
            </a:r>
          </a:p>
          <a:p>
            <a:pPr>
              <a:defRPr sz="1100">
                <a:solidFill>
                  <a:srgbClr val="0F172A"/>
                </a:solidFill>
              </a:defRPr>
            </a:pPr>
            <a:r>
              <a:t>• Manual Human Triage (10–14 Days): Overburdened clerks manually inspect unstructured text with zero automated diagnostics.</a:t>
            </a:r>
          </a:p>
          <a:p>
            <a:pPr>
              <a:defRPr sz="1100">
                <a:solidFill>
                  <a:srgbClr val="0F172A"/>
                </a:solidFill>
              </a:defRPr>
            </a:pPr>
            <a:r>
              <a:t>• Departmental Duplication: Identical ward complaints filed by multiple residents trigger duplicate field crew visits.</a:t>
            </a:r>
          </a:p>
          <a:p>
            <a:pPr>
              <a:defRPr sz="1100">
                <a:solidFill>
                  <a:srgbClr val="0F172A"/>
                </a:solidFill>
              </a:defRPr>
            </a:pPr>
            <a:r>
              <a:t>• Academic Isolation: Zero connection to university research labs or student engineering talent.</a:t>
            </a:r>
          </a:p>
          <a:p>
            <a:pPr>
              <a:defRPr sz="1100">
                <a:solidFill>
                  <a:srgbClr val="0F172A"/>
                </a:solidFill>
              </a:defRPr>
            </a:pPr>
            <a:r>
              <a:t>• Superficial Paper Closures: Complaints closed with administrative signatures; zero verifiable field proof.</a:t>
            </a:r>
          </a:p>
        </p:txBody>
      </p:sp>
      <p:sp>
        <p:nvSpPr>
          <p:cNvPr id="6" name="Rounded Rectangle 5"/>
          <p:cNvSpPr/>
          <p:nvPr/>
        </p:nvSpPr>
        <p:spPr>
          <a:xfrm>
            <a:off x="6199632" y="1645920"/>
            <a:ext cx="5257800" cy="45720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 CIVICSOLVE CLOSED-LOOP INNOVATION</a:t>
            </a:r>
          </a:p>
          <a:p>
            <a:pPr>
              <a:defRPr sz="1100">
                <a:solidFill>
                  <a:srgbClr val="0F172A"/>
                </a:solidFill>
              </a:defRPr>
            </a:pPr>
            <a:r>
              <a:t>• Active Solution Incubator: Converts validated civic pain points into accredited university R&amp;D capstone projects.</a:t>
            </a:r>
          </a:p>
          <a:p>
            <a:pPr>
              <a:defRPr sz="1100">
                <a:solidFill>
                  <a:srgbClr val="0F172A"/>
                </a:solidFill>
              </a:defRPr>
            </a:pPr>
            <a:r>
              <a:t>• Sub-Second Neural Triage (1.4s): Automated Gemini NLP domain classification, 0-100 severity scoring, and P1/P2/P3 priority.</a:t>
            </a:r>
          </a:p>
          <a:p>
            <a:pPr>
              <a:defRPr sz="1100">
                <a:solidFill>
                  <a:srgbClr val="0F172A"/>
                </a:solidFill>
              </a:defRPr>
            </a:pPr>
            <a:r>
              <a:t>• Semantic Duplicate Clustering: Cross-ward token matching (&gt;60% similarity) groups duplicates without auto-merging.</a:t>
            </a:r>
          </a:p>
          <a:p>
            <a:pPr>
              <a:defRPr sz="1100">
                <a:solidFill>
                  <a:srgbClr val="0F172A"/>
                </a:solidFill>
              </a:defRPr>
            </a:pPr>
            <a:r>
              <a:t>• Automated University Lab Matching: Algorithmic routing directly to specialized institutions (IIT Delhi, DTU Hydro-Lab).</a:t>
            </a:r>
          </a:p>
          <a:p>
            <a:pPr>
              <a:defRPr sz="1100">
                <a:solidFill>
                  <a:srgbClr val="0F172A"/>
                </a:solidFill>
              </a:defRPr>
            </a:pPr>
            <a:r>
              <a:t>• Live IoT Telemetry Audits: Milestones validated by real-time sensor streams (turbidity NTU, pressure), preventing ghost repairs.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PROPOSED SOLUTION</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CivicSolve: The Quad-Stakeholder Innovation Engine</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188720"/>
          </a:xfrm>
          <a:prstGeom prst="roundRect">
            <a:avLst/>
          </a:prstGeom>
          <a:solidFill>
            <a:srgbClr val="0F172A"/>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A CLOSED-LOOP ECOSYSTEM TURNING CIVIC COMPLAINTS INTO VERIFIABLE INFRASTRUCTURE</a:t>
            </a:r>
          </a:p>
          <a:p>
            <a:pPr>
              <a:defRPr sz="1200">
                <a:solidFill>
                  <a:srgbClr val="FFFFFF"/>
                </a:solidFill>
              </a:defRPr>
            </a:pPr>
            <a:r>
              <a:t>CivicSolve bridges Citizens, Municipal Administrators, Universities, and Corporate Industry through an integrated 8-stage innovation lifecycle supported by AI diagnostic triage, TRL milestone tracking, and live SCADA telemetry.</a:t>
            </a:r>
          </a:p>
        </p:txBody>
      </p:sp>
      <p:sp>
        <p:nvSpPr>
          <p:cNvPr id="6" name="Rounded Rectangle 5"/>
          <p:cNvSpPr/>
          <p:nvPr/>
        </p:nvSpPr>
        <p:spPr>
          <a:xfrm>
            <a:off x="731520" y="3017520"/>
            <a:ext cx="2560320" cy="3200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1. Intelligent Problem Intake</a:t>
            </a:r>
          </a:p>
          <a:p>
            <a:pPr>
              <a:defRPr sz="1100">
                <a:solidFill>
                  <a:srgbClr val="64748B"/>
                </a:solidFill>
              </a:defRPr>
            </a:pPr>
            <a:r>
              <a:t>GPS-locked GIS coordinates HUD, EXIF photo validation, and interactive AI chatbot copilot converting casual complaints into technical parameters.</a:t>
            </a:r>
          </a:p>
        </p:txBody>
      </p:sp>
      <p:sp>
        <p:nvSpPr>
          <p:cNvPr id="7" name="Rounded Rectangle 6"/>
          <p:cNvSpPr/>
          <p:nvPr/>
        </p:nvSpPr>
        <p:spPr>
          <a:xfrm>
            <a:off x="3456432" y="3017520"/>
            <a:ext cx="2560320" cy="3200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defRPr>
            </a:pPr>
            <a:r>
              <a:t>2. Real-Time Neural Triage</a:t>
            </a:r>
          </a:p>
          <a:p>
            <a:pPr>
              <a:defRPr sz="1100">
                <a:solidFill>
                  <a:srgbClr val="64748B"/>
                </a:solidFill>
              </a:defRPr>
            </a:pPr>
            <a:r>
              <a:t>Instant 1.4s domain classification, 0-100 severity risk scoring, and duplicate cluster detection across municipal boundaries.</a:t>
            </a:r>
          </a:p>
        </p:txBody>
      </p:sp>
      <p:sp>
        <p:nvSpPr>
          <p:cNvPr id="8" name="Rounded Rectangle 7"/>
          <p:cNvSpPr/>
          <p:nvPr/>
        </p:nvSpPr>
        <p:spPr>
          <a:xfrm>
            <a:off x="6181344" y="3017520"/>
            <a:ext cx="2560320" cy="3200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6056"/>
                </a:solidFill>
              </a:defRPr>
            </a:pPr>
            <a:r>
              <a:t>3. Quad Stakeholder Workspace</a:t>
            </a:r>
          </a:p>
          <a:p>
            <a:pPr>
              <a:defRPr sz="1100">
                <a:solidFill>
                  <a:srgbClr val="64748B"/>
                </a:solidFill>
              </a:defRPr>
            </a:pPr>
            <a:r>
              <a:t>A collaborative project workspace uniting student squads, faculty PIs, municipal nodal officers, and corporate CSR mentors.</a:t>
            </a:r>
          </a:p>
        </p:txBody>
      </p:sp>
      <p:sp>
        <p:nvSpPr>
          <p:cNvPr id="9" name="Rounded Rectangle 8"/>
          <p:cNvSpPr/>
          <p:nvPr/>
        </p:nvSpPr>
        <p:spPr>
          <a:xfrm>
            <a:off x="8906256" y="3017520"/>
            <a:ext cx="2560320" cy="32004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4. Sensor-Verified Impact</a:t>
            </a:r>
          </a:p>
          <a:p>
            <a:pPr>
              <a:defRPr sz="1100">
                <a:solidFill>
                  <a:srgbClr val="64748B"/>
                </a:solidFill>
              </a:defRPr>
            </a:pPr>
            <a:r>
              <a:t>Real-time IoT telemetry streaming verifying project deliverables in the field, mapped directly to UN Sustainable Development Goals.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PLATFORM CAPABILITIES</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Engineered for Speed, Precision &amp; Multi-Stakeholder Collaboration</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56432" cy="20574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Neural AI Diagnostic Triage</a:t>
            </a:r>
          </a:p>
          <a:p>
            <a:pPr>
              <a:defRPr sz="1100">
                <a:solidFill>
                  <a:srgbClr val="64748B"/>
                </a:solidFill>
              </a:defRPr>
            </a:pPr>
            <a:r>
              <a:t>Real-time Gemini NLP domain classification, 0-100 severity scoring, semantic hashtag extraction (#DrinkingWater, #Turbidity), and priority tiering (P1/P2/P3).</a:t>
            </a:r>
          </a:p>
        </p:txBody>
      </p:sp>
      <p:sp>
        <p:nvSpPr>
          <p:cNvPr id="6" name="Rounded Rectangle 5"/>
          <p:cNvSpPr/>
          <p:nvPr/>
        </p:nvSpPr>
        <p:spPr>
          <a:xfrm>
            <a:off x="4370832" y="1645920"/>
            <a:ext cx="3456432" cy="2057400"/>
          </a:xfrm>
          <a:prstGeom prst="roundRect">
            <a:avLst/>
          </a:prstGeom>
          <a:solidFill>
            <a:srgbClr val="FFFFFF"/>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defRPr>
            </a:pPr>
            <a:r>
              <a:t>Intelligent Duplicate Clustering</a:t>
            </a:r>
          </a:p>
          <a:p>
            <a:pPr>
              <a:defRPr sz="1100">
                <a:solidFill>
                  <a:srgbClr val="64748B"/>
                </a:solidFill>
              </a:defRPr>
            </a:pPr>
            <a:r>
              <a:t>Cross-ward token &amp; keyword matching (&gt;60% similarity threshold); alerts citizens to existing tickets without automated merging, building consensus.</a:t>
            </a:r>
          </a:p>
        </p:txBody>
      </p:sp>
      <p:sp>
        <p:nvSpPr>
          <p:cNvPr id="7" name="Rounded Rectangle 6"/>
          <p:cNvSpPr/>
          <p:nvPr/>
        </p:nvSpPr>
        <p:spPr>
          <a:xfrm>
            <a:off x="8010144" y="1645920"/>
            <a:ext cx="3456432" cy="2057400"/>
          </a:xfrm>
          <a:prstGeom prst="roundRect">
            <a:avLst/>
          </a:prstGeom>
          <a:solidFill>
            <a:srgbClr val="FFFFFF"/>
          </a:solidFill>
          <a:ln w="1524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6056"/>
                </a:solidFill>
              </a:defRPr>
            </a:pPr>
            <a:r>
              <a:t>CivicSolve AI Assistant Copilot</a:t>
            </a:r>
          </a:p>
          <a:p>
            <a:pPr>
              <a:defRPr sz="1100">
                <a:solidFill>
                  <a:srgbClr val="64748B"/>
                </a:solidFill>
              </a:defRPr>
            </a:pPr>
            <a:r>
              <a:t>Floating responsive assistant with role-aware starter prompts for all 4 personas, interactive problem intake, and 1-click submission form pre-filling.</a:t>
            </a:r>
          </a:p>
        </p:txBody>
      </p:sp>
      <p:sp>
        <p:nvSpPr>
          <p:cNvPr id="8" name="Rounded Rectangle 7"/>
          <p:cNvSpPr/>
          <p:nvPr/>
        </p:nvSpPr>
        <p:spPr>
          <a:xfrm>
            <a:off x="731520" y="3931920"/>
            <a:ext cx="3456432" cy="205740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Municipal Triage &amp; Action Dashboard</a:t>
            </a:r>
          </a:p>
          <a:p>
            <a:pPr>
              <a:defRPr sz="1100">
                <a:solidFill>
                  <a:srgbClr val="64748B"/>
                </a:solidFill>
              </a:defRPr>
            </a:pPr>
            <a:r>
              <a:t>Zonal queue filtering by ward, priority, and domain. 1-click 'Approve &amp; Route to Lab' capability with complete historical audit activity tracking.</a:t>
            </a:r>
          </a:p>
        </p:txBody>
      </p:sp>
      <p:sp>
        <p:nvSpPr>
          <p:cNvPr id="9" name="Rounded Rectangle 8"/>
          <p:cNvSpPr/>
          <p:nvPr/>
        </p:nvSpPr>
        <p:spPr>
          <a:xfrm>
            <a:off x="4370832" y="3931920"/>
            <a:ext cx="3456432" cy="2057400"/>
          </a:xfrm>
          <a:prstGeom prst="roundRect">
            <a:avLst/>
          </a:prstGeom>
          <a:solidFill>
            <a:srgbClr val="FFFFFF"/>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defRPr>
            </a:pPr>
            <a:r>
              <a:t>Quad-Mesh Project Workspace</a:t>
            </a:r>
          </a:p>
          <a:p>
            <a:pPr>
              <a:defRPr sz="1100">
                <a:solidFill>
                  <a:srgbClr val="64748B"/>
                </a:solidFill>
              </a:defRPr>
            </a:pPr>
            <a:r>
              <a:t>Project AquaSense (#CS-8921) dashboard tracking TRL 1-6 milestones, interactive sprint checklist, downloadable schematics, and mentor discussions.</a:t>
            </a:r>
          </a:p>
        </p:txBody>
      </p:sp>
      <p:sp>
        <p:nvSpPr>
          <p:cNvPr id="10" name="Rounded Rectangle 9"/>
          <p:cNvSpPr/>
          <p:nvPr/>
        </p:nvSpPr>
        <p:spPr>
          <a:xfrm>
            <a:off x="8010144" y="3931920"/>
            <a:ext cx="3456432" cy="2057400"/>
          </a:xfrm>
          <a:prstGeom prst="roundRect">
            <a:avLst/>
          </a:prstGeom>
          <a:solidFill>
            <a:srgbClr val="FFFFFF"/>
          </a:solidFill>
          <a:ln w="1524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6056"/>
                </a:solidFill>
              </a:defRPr>
            </a:pPr>
            <a:r>
              <a:t>Live IoT Telemetry Visualizer</a:t>
            </a:r>
          </a:p>
          <a:p>
            <a:pPr>
              <a:defRPr sz="1100">
                <a:solidFill>
                  <a:srgbClr val="64748B"/>
                </a:solidFill>
              </a:defRPr>
            </a:pPr>
            <a:r>
              <a:t>Real-time differential pressure and optical turbidity curves over 6 hours with automated 'Leak Trigger' anomaly markers, eliminating ghost repairs.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ECOSYSTEM ACTORS</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Four Stakeholders, One Unified Mission: Seamless Quad Mesh</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60320" cy="45720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6056"/>
                </a:solidFill>
              </a:defRPr>
            </a:pPr>
            <a:r>
              <a:t>CITIZEN / COMMUNITY</a:t>
            </a:r>
          </a:p>
          <a:p>
            <a:pPr>
              <a:defRPr sz="1000" i="1">
                <a:solidFill>
                  <a:srgbClr val="64748B"/>
                </a:solidFill>
              </a:defRPr>
            </a:pPr>
            <a:r>
              <a:t>Pooja Verma (Ward 14 Resident)</a:t>
            </a:r>
          </a:p>
          <a:p>
            <a:pPr>
              <a:defRPr sz="1050">
                <a:solidFill>
                  <a:srgbClr val="0F172A"/>
                </a:solidFill>
              </a:defRPr>
            </a:pPr>
            <a:r>
              <a:t>• Submit geo-tagged problem statements with EXIF proof.</a:t>
            </a:r>
          </a:p>
          <a:p>
            <a:pPr>
              <a:defRPr sz="1050">
                <a:solidFill>
                  <a:srgbClr val="0F172A"/>
                </a:solidFill>
              </a:defRPr>
            </a:pPr>
            <a:r>
              <a:t>• Endorse neighborhood challenges to build civic consensus.</a:t>
            </a:r>
          </a:p>
          <a:p>
            <a:pPr>
              <a:defRPr sz="1050">
                <a:solidFill>
                  <a:srgbClr val="0F172A"/>
                </a:solidFill>
              </a:defRPr>
            </a:pPr>
            <a:r>
              <a:t>• Test and validate deployed field pilot prototypes.</a:t>
            </a:r>
          </a:p>
          <a:p>
            <a:pPr>
              <a:defRPr sz="1050">
                <a:solidFill>
                  <a:srgbClr val="0F172A"/>
                </a:solidFill>
              </a:defRPr>
            </a:pPr>
            <a:r>
              <a:t>• Track resolution progress across all 8 innovation stages.</a:t>
            </a:r>
          </a:p>
        </p:txBody>
      </p:sp>
      <p:sp>
        <p:nvSpPr>
          <p:cNvPr id="6" name="Rounded Rectangle 5"/>
          <p:cNvSpPr/>
          <p:nvPr/>
        </p:nvSpPr>
        <p:spPr>
          <a:xfrm>
            <a:off x="3456432" y="1645920"/>
            <a:ext cx="2560320" cy="45720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563EB"/>
                </a:solidFill>
              </a:defRPr>
            </a:pPr>
            <a:r>
              <a:t>GOVERNMENT ADMIN</a:t>
            </a:r>
          </a:p>
          <a:p>
            <a:pPr>
              <a:defRPr sz="1000" i="1">
                <a:solidFill>
                  <a:srgbClr val="64748B"/>
                </a:solidFill>
              </a:defRPr>
            </a:pPr>
            <a:r>
              <a:t>Er. S. P. Bhardwaj (Chief Zonal Engineer)</a:t>
            </a:r>
          </a:p>
          <a:p>
            <a:pPr>
              <a:defRPr sz="1050">
                <a:solidFill>
                  <a:srgbClr val="0F172A"/>
                </a:solidFill>
              </a:defRPr>
            </a:pPr>
            <a:r>
              <a:t>• Review AI-triaged challenge queue across monitored wards.</a:t>
            </a:r>
          </a:p>
          <a:p>
            <a:pPr>
              <a:defRPr sz="1050">
                <a:solidFill>
                  <a:srgbClr val="0F172A"/>
                </a:solidFill>
              </a:defRPr>
            </a:pPr>
            <a:r>
              <a:t>• Sanction priority tiers (P1: Critical to P3: Medium).</a:t>
            </a:r>
          </a:p>
          <a:p>
            <a:pPr>
              <a:defRPr sz="1050">
                <a:solidFill>
                  <a:srgbClr val="0F172A"/>
                </a:solidFill>
              </a:defRPr>
            </a:pPr>
            <a:r>
              <a:t>• Approve &amp; route validated problems to university labs.</a:t>
            </a:r>
          </a:p>
          <a:p>
            <a:pPr>
              <a:defRPr sz="1050">
                <a:solidFill>
                  <a:srgbClr val="0F172A"/>
                </a:solidFill>
              </a:defRPr>
            </a:pPr>
            <a:r>
              <a:t>• Monitor zonal sensor telemetry and audit compliance.</a:t>
            </a:r>
          </a:p>
        </p:txBody>
      </p:sp>
      <p:sp>
        <p:nvSpPr>
          <p:cNvPr id="7" name="Rounded Rectangle 6"/>
          <p:cNvSpPr/>
          <p:nvPr/>
        </p:nvSpPr>
        <p:spPr>
          <a:xfrm>
            <a:off x="6181344" y="1645920"/>
            <a:ext cx="2560320" cy="45720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UNIVERSITY / FACULTY / STUDENTS</a:t>
            </a:r>
          </a:p>
          <a:p>
            <a:pPr>
              <a:defRPr sz="1000" i="1">
                <a:solidFill>
                  <a:srgbClr val="64748B"/>
                </a:solidFill>
              </a:defRPr>
            </a:pPr>
            <a:r>
              <a:t>Aarav Sharma (IIT Delhi &amp; DTU Lead)</a:t>
            </a:r>
          </a:p>
          <a:p>
            <a:pPr>
              <a:defRPr sz="1050">
                <a:solidFill>
                  <a:srgbClr val="0F172A"/>
                </a:solidFill>
              </a:defRPr>
            </a:pPr>
            <a:r>
              <a:t>• Claim approved challenges matching departmental labs.</a:t>
            </a:r>
          </a:p>
          <a:p>
            <a:pPr>
              <a:defRPr sz="1050">
                <a:solidFill>
                  <a:srgbClr val="0F172A"/>
                </a:solidFill>
              </a:defRPr>
            </a:pPr>
            <a:r>
              <a:t>• Execute multidisciplinary R&amp;D sprints across TRL 1 to 6.</a:t>
            </a:r>
          </a:p>
          <a:p>
            <a:pPr>
              <a:defRPr sz="1050">
                <a:solidFill>
                  <a:srgbClr val="0F172A"/>
                </a:solidFill>
              </a:defRPr>
            </a:pPr>
            <a:r>
              <a:t>• Build hardware prototypes &amp; stream live sensor feeds.</a:t>
            </a:r>
          </a:p>
          <a:p>
            <a:pPr>
              <a:defRPr sz="1050">
                <a:solidFill>
                  <a:srgbClr val="0F172A"/>
                </a:solidFill>
              </a:defRPr>
            </a:pPr>
            <a:r>
              <a:t>• Collaborate weekly with assigned industry mentors.</a:t>
            </a:r>
          </a:p>
        </p:txBody>
      </p:sp>
      <p:sp>
        <p:nvSpPr>
          <p:cNvPr id="8" name="Rounded Rectangle 7"/>
          <p:cNvSpPr/>
          <p:nvPr/>
        </p:nvSpPr>
        <p:spPr>
          <a:xfrm>
            <a:off x="8906256" y="1645920"/>
            <a:ext cx="2560320" cy="45720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defRPr>
            </a:pPr>
            <a:r>
              <a:t>INDUSTRY / CSR PARTNERS</a:t>
            </a:r>
          </a:p>
          <a:p>
            <a:pPr>
              <a:defRPr sz="1000" i="1">
                <a:solidFill>
                  <a:srgbClr val="64748B"/>
                </a:solidFill>
              </a:defRPr>
            </a:pPr>
            <a:r>
              <a:t>Vikram Seth (Siemens Civic Tech Labs)</a:t>
            </a:r>
          </a:p>
          <a:p>
            <a:pPr>
              <a:defRPr sz="1050">
                <a:solidFill>
                  <a:srgbClr val="0F172A"/>
                </a:solidFill>
              </a:defRPr>
            </a:pPr>
            <a:r>
              <a:t>• Browse validated challenges aligned with corporate CSR mandates.</a:t>
            </a:r>
          </a:p>
          <a:p>
            <a:pPr>
              <a:defRPr sz="1050">
                <a:solidFill>
                  <a:srgbClr val="0F172A"/>
                </a:solidFill>
              </a:defRPr>
            </a:pPr>
            <a:r>
              <a:t>• Pledge financial dev grants (e.g. ₹7.5L) &amp; hardware kits.</a:t>
            </a:r>
          </a:p>
          <a:p>
            <a:pPr>
              <a:defRPr sz="1050">
                <a:solidFill>
                  <a:srgbClr val="0F172A"/>
                </a:solidFill>
              </a:defRPr>
            </a:pPr>
            <a:r>
              <a:t>• Assign senior architects to mentor student squads weekly.</a:t>
            </a:r>
          </a:p>
          <a:p>
            <a:pPr>
              <a:defRPr sz="1050">
                <a:solidFill>
                  <a:srgbClr val="0F172A"/>
                </a:solidFill>
              </a:defRPr>
            </a:pPr>
            <a:r>
              <a:t>• Scale and commercialize successful TRL-6 field pilots.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SYSTEM WORKFLOW</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The 8-Stage Societal Innovation Lifecycle</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60320"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Stage 1: Intake</a:t>
            </a:r>
          </a:p>
          <a:p>
            <a:pPr>
              <a:defRPr sz="1100">
                <a:solidFill>
                  <a:srgbClr val="0F172A"/>
                </a:solidFill>
              </a:defRPr>
            </a:pPr>
            <a:r>
              <a:t>Citizen inputs issue + GPS HUD + EXIF photo.</a:t>
            </a:r>
          </a:p>
        </p:txBody>
      </p:sp>
      <p:sp>
        <p:nvSpPr>
          <p:cNvPr id="6" name="Rounded Rectangle 5"/>
          <p:cNvSpPr/>
          <p:nvPr/>
        </p:nvSpPr>
        <p:spPr>
          <a:xfrm>
            <a:off x="3456432" y="1645920"/>
            <a:ext cx="2560320" cy="2057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Stage 2: AI Triage</a:t>
            </a:r>
          </a:p>
          <a:p>
            <a:pPr>
              <a:defRPr sz="1100">
                <a:solidFill>
                  <a:srgbClr val="0F172A"/>
                </a:solidFill>
              </a:defRPr>
            </a:pPr>
            <a:r>
              <a:t>Gemini NLP domain, severity (89/100, P1) &amp; deduplication.</a:t>
            </a:r>
          </a:p>
        </p:txBody>
      </p:sp>
      <p:sp>
        <p:nvSpPr>
          <p:cNvPr id="7" name="Rounded Rectangle 6"/>
          <p:cNvSpPr/>
          <p:nvPr/>
        </p:nvSpPr>
        <p:spPr>
          <a:xfrm>
            <a:off x="6181344" y="1645920"/>
            <a:ext cx="2560320"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Stage 3: Validation</a:t>
            </a:r>
          </a:p>
          <a:p>
            <a:pPr>
              <a:defRPr sz="1100">
                <a:solidFill>
                  <a:srgbClr val="0F172A"/>
                </a:solidFill>
              </a:defRPr>
            </a:pPr>
            <a:r>
              <a:t>Municipal officer reviews ticket &amp; sanctions tender.</a:t>
            </a:r>
          </a:p>
        </p:txBody>
      </p:sp>
      <p:sp>
        <p:nvSpPr>
          <p:cNvPr id="8" name="Rounded Rectangle 7"/>
          <p:cNvSpPr/>
          <p:nvPr/>
        </p:nvSpPr>
        <p:spPr>
          <a:xfrm>
            <a:off x="8906256" y="1645920"/>
            <a:ext cx="2560320" cy="2057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Stage 4: Lab Match</a:t>
            </a:r>
          </a:p>
          <a:p>
            <a:pPr>
              <a:defRPr sz="1100">
                <a:solidFill>
                  <a:srgbClr val="0F172A"/>
                </a:solidFill>
              </a:defRPr>
            </a:pPr>
            <a:r>
              <a:t>Auto-routed to DTU Hydro-Lab (Fluid Dynamics).</a:t>
            </a:r>
          </a:p>
        </p:txBody>
      </p:sp>
      <p:sp>
        <p:nvSpPr>
          <p:cNvPr id="9" name="Rounded Rectangle 8"/>
          <p:cNvSpPr/>
          <p:nvPr/>
        </p:nvSpPr>
        <p:spPr>
          <a:xfrm>
            <a:off x="731520" y="3931920"/>
            <a:ext cx="2560320"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Stage 5: R&amp;D Sprint</a:t>
            </a:r>
          </a:p>
          <a:p>
            <a:pPr>
              <a:defRPr sz="1100">
                <a:solidFill>
                  <a:srgbClr val="0F172A"/>
                </a:solidFill>
              </a:defRPr>
            </a:pPr>
            <a:r>
              <a:t>Student squad builds LoRaWAN prototype (TRL 1-6).</a:t>
            </a:r>
          </a:p>
        </p:txBody>
      </p:sp>
      <p:sp>
        <p:nvSpPr>
          <p:cNvPr id="10" name="Rounded Rectangle 9"/>
          <p:cNvSpPr/>
          <p:nvPr/>
        </p:nvSpPr>
        <p:spPr>
          <a:xfrm>
            <a:off x="3456432" y="3931920"/>
            <a:ext cx="2560320" cy="20574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Stage 6: Mentorship</a:t>
            </a:r>
          </a:p>
          <a:p>
            <a:pPr>
              <a:defRPr sz="1100">
                <a:solidFill>
                  <a:srgbClr val="0F172A"/>
                </a:solidFill>
              </a:defRPr>
            </a:pPr>
            <a:r>
              <a:t>Siemens pledges ₹7.5L grant + weekly reviews.</a:t>
            </a:r>
          </a:p>
        </p:txBody>
      </p:sp>
      <p:sp>
        <p:nvSpPr>
          <p:cNvPr id="11" name="Rounded Rectangle 10"/>
          <p:cNvSpPr/>
          <p:nvPr/>
        </p:nvSpPr>
        <p:spPr>
          <a:xfrm>
            <a:off x="6181344" y="3931920"/>
            <a:ext cx="2560320" cy="2057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Stage 7: Field Pilot</a:t>
            </a:r>
          </a:p>
          <a:p>
            <a:pPr>
              <a:defRPr sz="1100">
                <a:solidFill>
                  <a:srgbClr val="0F172A"/>
                </a:solidFill>
              </a:defRPr>
            </a:pPr>
            <a:r>
              <a:t>Node deployed in Ward 14 with live telemetry.</a:t>
            </a:r>
          </a:p>
        </p:txBody>
      </p:sp>
      <p:sp>
        <p:nvSpPr>
          <p:cNvPr id="12" name="Rounded Rectangle 11"/>
          <p:cNvSpPr/>
          <p:nvPr/>
        </p:nvSpPr>
        <p:spPr>
          <a:xfrm>
            <a:off x="8906256" y="3931920"/>
            <a:ext cx="2560320" cy="2057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Stage 8: Impact</a:t>
            </a:r>
          </a:p>
          <a:p>
            <a:pPr>
              <a:defRPr sz="1100">
                <a:solidFill>
                  <a:srgbClr val="0F172A"/>
                </a:solidFill>
              </a:defRPr>
            </a:pPr>
            <a:r>
              <a:t>5,000+ residents verified clean water via social audit.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14B8A6"/>
                </a:solidFill>
                <a:latin typeface="Arial"/>
              </a:defRPr>
            </a:pPr>
            <a:r>
              <a:t>TECHNICAL ARCHITECTURE</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FFFFFF"/>
                </a:solidFill>
                <a:latin typeface="Arial"/>
              </a:defRPr>
            </a:pPr>
            <a:r>
              <a:t>Decoupled, Production-Grade Multi-Tier System Design</a:t>
            </a:r>
          </a:p>
        </p:txBody>
      </p:sp>
      <p:sp>
        <p:nvSpPr>
          <p:cNvPr id="4" name="Rectangle 3"/>
          <p:cNvSpPr/>
          <p:nvPr/>
        </p:nvSpPr>
        <p:spPr>
          <a:xfrm>
            <a:off x="731520" y="1298448"/>
            <a:ext cx="10728655" cy="18288"/>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960120"/>
          </a:xfrm>
          <a:prstGeom prst="roundRect">
            <a:avLst/>
          </a:prstGeom>
          <a:solidFill>
            <a:srgbClr val="1E293B"/>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CLIENT PRESENTATION LAYER (SPA)</a:t>
            </a:r>
          </a:p>
          <a:p>
            <a:pPr>
              <a:defRPr sz="1100">
                <a:solidFill>
                  <a:srgbClr val="FFFFFF"/>
                </a:solidFill>
              </a:defRPr>
            </a:pPr>
            <a:r>
              <a:t>React 18.3  •  TypeScript 5.6  •  Vite 6  •  Tailwind CSS 3.4  •  React Router 6  •  Material Symbols &amp; Lucide</a:t>
            </a:r>
          </a:p>
        </p:txBody>
      </p:sp>
      <p:sp>
        <p:nvSpPr>
          <p:cNvPr id="6" name="Rounded Rectangle 5"/>
          <p:cNvSpPr/>
          <p:nvPr/>
        </p:nvSpPr>
        <p:spPr>
          <a:xfrm>
            <a:off x="731520" y="2788920"/>
            <a:ext cx="10728655" cy="9601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API GATEWAY &amp; CONTROLLER SERVICES</a:t>
            </a:r>
          </a:p>
          <a:p>
            <a:pPr>
              <a:defRPr sz="1100">
                <a:solidFill>
                  <a:srgbClr val="FFFFFF"/>
                </a:solidFill>
              </a:defRPr>
            </a:pPr>
            <a:r>
              <a:t>Node.js v24  •  Express 4.21  •  TSX Runtime  •  RESTful Endpoints (/api/challenges, /api/projects, /api/ai)</a:t>
            </a:r>
          </a:p>
        </p:txBody>
      </p:sp>
      <p:sp>
        <p:nvSpPr>
          <p:cNvPr id="7" name="Rounded Rectangle 6"/>
          <p:cNvSpPr/>
          <p:nvPr/>
        </p:nvSpPr>
        <p:spPr>
          <a:xfrm>
            <a:off x="731520" y="3931920"/>
            <a:ext cx="10728655" cy="960120"/>
          </a:xfrm>
          <a:prstGeom prst="roundRect">
            <a:avLst/>
          </a:prstGeom>
          <a:solidFill>
            <a:srgbClr val="1E293B"/>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AI NEURAL INTAKE &amp; TRIAGE ENGINE</a:t>
            </a:r>
          </a:p>
          <a:p>
            <a:pPr>
              <a:defRPr sz="1100">
                <a:solidFill>
                  <a:srgbClr val="FFFFFF"/>
                </a:solidFill>
              </a:defRPr>
            </a:pPr>
            <a:r>
              <a:t>Google Gemini 1.5/2.5 Flash API  •  @google/genai SDK  •  Deterministic Neural Fallback  •  Regex NLP Parser</a:t>
            </a:r>
          </a:p>
        </p:txBody>
      </p:sp>
      <p:sp>
        <p:nvSpPr>
          <p:cNvPr id="8" name="Rounded Rectangle 7"/>
          <p:cNvSpPr/>
          <p:nvPr/>
        </p:nvSpPr>
        <p:spPr>
          <a:xfrm>
            <a:off x="731520" y="5074920"/>
            <a:ext cx="10728655" cy="96012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STATE, PERSISTENCE &amp; DATA PIPELINE</a:t>
            </a:r>
          </a:p>
          <a:p>
            <a:pPr>
              <a:defRPr sz="1100">
                <a:solidFill>
                  <a:srgbClr val="FFFFFF"/>
                </a:solidFill>
              </a:defRPr>
            </a:pPr>
            <a:r>
              <a:t>In-Memory ACID Store  •  LocalStorage Sync  •  Prisma/PostgreSQL Schema-Ready  •  Telemetry Stream Ingestion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DATABASE DESIGN</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Normalized Entity-Relationship Architecture</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60320" cy="45720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USER</a:t>
            </a:r>
          </a:p>
          <a:p>
            <a:pPr>
              <a:defRPr sz="1000">
                <a:solidFill>
                  <a:srgbClr val="0F172A"/>
                </a:solidFill>
              </a:defRPr>
            </a:pPr>
            <a:r>
              <a:t>• id: String (PK)</a:t>
            </a:r>
          </a:p>
          <a:p>
            <a:pPr>
              <a:defRPr sz="1000">
                <a:solidFill>
                  <a:srgbClr val="0F172A"/>
                </a:solidFill>
              </a:defRPr>
            </a:pPr>
            <a:r>
              <a:t>• name: String</a:t>
            </a:r>
          </a:p>
          <a:p>
            <a:pPr>
              <a:defRPr sz="1000">
                <a:solidFill>
                  <a:srgbClr val="0F172A"/>
                </a:solidFill>
              </a:defRPr>
            </a:pPr>
            <a:r>
              <a:t>• role: CITIZEN | GOVT | UNIV | IND</a:t>
            </a:r>
          </a:p>
          <a:p>
            <a:pPr>
              <a:defRPr sz="1000">
                <a:solidFill>
                  <a:srgbClr val="0F172A"/>
                </a:solidFill>
              </a:defRPr>
            </a:pPr>
            <a:r>
              <a:t>• title, organization: String</a:t>
            </a:r>
          </a:p>
          <a:p>
            <a:pPr>
              <a:defRPr sz="1000">
                <a:solidFill>
                  <a:srgbClr val="0F172A"/>
                </a:solidFill>
              </a:defRPr>
            </a:pPr>
            <a:r>
              <a:t>• avatar: String URL</a:t>
            </a:r>
          </a:p>
        </p:txBody>
      </p:sp>
      <p:sp>
        <p:nvSpPr>
          <p:cNvPr id="6" name="Rounded Rectangle 5"/>
          <p:cNvSpPr/>
          <p:nvPr/>
        </p:nvSpPr>
        <p:spPr>
          <a:xfrm>
            <a:off x="3456432" y="1645920"/>
            <a:ext cx="2560320" cy="45720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CHALLENGE</a:t>
            </a:r>
          </a:p>
          <a:p>
            <a:pPr>
              <a:defRPr sz="1000">
                <a:solidFill>
                  <a:srgbClr val="0F172A"/>
                </a:solidFill>
              </a:defRPr>
            </a:pPr>
            <a:r>
              <a:t>• id: String (PK), ticketId: String</a:t>
            </a:r>
          </a:p>
          <a:p>
            <a:pPr>
              <a:defRPr sz="1000">
                <a:solidFill>
                  <a:srgbClr val="0F172A"/>
                </a:solidFill>
              </a:defRPr>
            </a:pPr>
            <a:r>
              <a:t>• title, description, category</a:t>
            </a:r>
          </a:p>
          <a:p>
            <a:pPr>
              <a:defRPr sz="1000">
                <a:solidFill>
                  <a:srgbClr val="0F172A"/>
                </a:solidFill>
              </a:defRPr>
            </a:pPr>
            <a:r>
              <a:t>• peopleAffected: String</a:t>
            </a:r>
          </a:p>
          <a:p>
            <a:pPr>
              <a:defRPr sz="1000">
                <a:solidFill>
                  <a:srgbClr val="0F172A"/>
                </a:solidFill>
              </a:defRPr>
            </a:pPr>
            <a:r>
              <a:t>• location: {lat, lng, ward, dist}</a:t>
            </a:r>
          </a:p>
          <a:p>
            <a:pPr>
              <a:defRPr sz="1000">
                <a:solidFill>
                  <a:srgbClr val="0F172A"/>
                </a:solidFill>
              </a:defRPr>
            </a:pPr>
            <a:r>
              <a:t>• status: Submitted → Resolved</a:t>
            </a:r>
          </a:p>
          <a:p>
            <a:pPr>
              <a:defRPr sz="1000">
                <a:solidFill>
                  <a:srgbClr val="0F172A"/>
                </a:solidFill>
              </a:defRPr>
            </a:pPr>
            <a:r>
              <a:t>• priority: P1 | P2 | P3</a:t>
            </a:r>
          </a:p>
          <a:p>
            <a:pPr>
              <a:defRPr sz="1000">
                <a:solidFill>
                  <a:srgbClr val="0F172A"/>
                </a:solidFill>
              </a:defRPr>
            </a:pPr>
            <a:r>
              <a:t>• aiDiagnostics: AIDiagnosticResult</a:t>
            </a:r>
          </a:p>
          <a:p>
            <a:pPr>
              <a:defRPr sz="1000">
                <a:solidFill>
                  <a:srgbClr val="0F172A"/>
                </a:solidFill>
              </a:defRPr>
            </a:pPr>
            <a:r>
              <a:t>• assignedLab, endorsementsCount</a:t>
            </a:r>
          </a:p>
        </p:txBody>
      </p:sp>
      <p:sp>
        <p:nvSpPr>
          <p:cNvPr id="7" name="Rounded Rectangle 6"/>
          <p:cNvSpPr/>
          <p:nvPr/>
        </p:nvSpPr>
        <p:spPr>
          <a:xfrm>
            <a:off x="6181344" y="1645920"/>
            <a:ext cx="2560320" cy="45720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PROJECT</a:t>
            </a:r>
          </a:p>
          <a:p>
            <a:pPr>
              <a:defRPr sz="1000">
                <a:solidFill>
                  <a:srgbClr val="0F172A"/>
                </a:solidFill>
              </a:defRPr>
            </a:pPr>
            <a:r>
              <a:t>• id: String (PK), challengeId: (FK)</a:t>
            </a:r>
          </a:p>
          <a:p>
            <a:pPr>
              <a:defRPr sz="1000">
                <a:solidFill>
                  <a:srgbClr val="0F172A"/>
                </a:solidFill>
              </a:defRPr>
            </a:pPr>
            <a:r>
              <a:t>• leadInstitute, trlLevel (1-6)</a:t>
            </a:r>
          </a:p>
          <a:p>
            <a:pPr>
              <a:defRPr sz="1000">
                <a:solidFill>
                  <a:srgbClr val="0F172A"/>
                </a:solidFill>
              </a:defRPr>
            </a:pPr>
            <a:r>
              <a:t>• sprintNumber, totalSprints</a:t>
            </a:r>
          </a:p>
          <a:p>
            <a:pPr>
              <a:defRPr sz="1000">
                <a:solidFill>
                  <a:srgbClr val="0F172A"/>
                </a:solidFill>
              </a:defRPr>
            </a:pPr>
            <a:r>
              <a:t>• telemetry: {pressure, turbidity}</a:t>
            </a:r>
          </a:p>
          <a:p>
            <a:pPr>
              <a:defRPr sz="1000">
                <a:solidFill>
                  <a:srgbClr val="0F172A"/>
                </a:solidFill>
              </a:defRPr>
            </a:pPr>
            <a:r>
              <a:t>• team: {students, PI, mentor, govt}</a:t>
            </a:r>
          </a:p>
          <a:p>
            <a:pPr>
              <a:defRPr sz="1000">
                <a:solidFill>
                  <a:srgbClr val="0F172A"/>
                </a:solidFill>
              </a:defRPr>
            </a:pPr>
            <a:r>
              <a:t>• tasks: ProjectTask[]</a:t>
            </a:r>
          </a:p>
          <a:p>
            <a:pPr>
              <a:defRPr sz="1000">
                <a:solidFill>
                  <a:srgbClr val="0F172A"/>
                </a:solidFill>
              </a:defRPr>
            </a:pPr>
            <a:r>
              <a:t>• discussions: ProjectDiscussion[]</a:t>
            </a:r>
          </a:p>
        </p:txBody>
      </p:sp>
      <p:sp>
        <p:nvSpPr>
          <p:cNvPr id="8" name="Rounded Rectangle 7"/>
          <p:cNvSpPr/>
          <p:nvPr/>
        </p:nvSpPr>
        <p:spPr>
          <a:xfrm>
            <a:off x="8906256" y="1645920"/>
            <a:ext cx="2560320" cy="45720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TELEMETRY &amp; AUDIT</a:t>
            </a:r>
          </a:p>
          <a:p>
            <a:pPr>
              <a:defRPr sz="1000">
                <a:solidFill>
                  <a:srgbClr val="0F172A"/>
                </a:solidFill>
              </a:defRPr>
            </a:pPr>
            <a:r>
              <a:t>• challengeId, ticketId (FK)</a:t>
            </a:r>
          </a:p>
          <a:p>
            <a:pPr>
              <a:defRPr sz="1000">
                <a:solidFill>
                  <a:srgbClr val="0F172A"/>
                </a:solidFill>
              </a:defRPr>
            </a:pPr>
            <a:r>
              <a:t>• pressureBar: Float (3.2 bar)</a:t>
            </a:r>
          </a:p>
          <a:p>
            <a:pPr>
              <a:defRPr sz="1000">
                <a:solidFill>
                  <a:srgbClr val="0F172A"/>
                </a:solidFill>
              </a:defRPr>
            </a:pPr>
            <a:r>
              <a:t>• turbidityNTU: Float (18.4 NTU)</a:t>
            </a:r>
          </a:p>
          <a:p>
            <a:pPr>
              <a:defRPr sz="1000">
                <a:solidFill>
                  <a:srgbClr val="0F172A"/>
                </a:solidFill>
              </a:defRPr>
            </a:pPr>
            <a:r>
              <a:t>• samplingRate: '15s LoRaWAN'</a:t>
            </a:r>
          </a:p>
          <a:p>
            <a:pPr>
              <a:defRPr sz="1000">
                <a:solidFill>
                  <a:srgbClr val="0F172A"/>
                </a:solidFill>
              </a:defRPr>
            </a:pPr>
            <a:r>
              <a:t>• ambientTemp: '28.4 C'</a:t>
            </a:r>
          </a:p>
          <a:p>
            <a:pPr>
              <a:defRPr sz="1000">
                <a:solidFill>
                  <a:srgbClr val="0F172A"/>
                </a:solidFill>
              </a:defRPr>
            </a:pPr>
            <a:r>
              <a:t>• status: 'CRITICAL_LEAK_ANOMALY'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TECHNOLOGY STACK</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Production-Proven, Modern &amp; Enterprise-Grade Stack</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56432"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Frontend Application</a:t>
            </a:r>
          </a:p>
          <a:p>
            <a:pPr>
              <a:defRPr sz="1050">
                <a:solidFill>
                  <a:srgbClr val="0F172A"/>
                </a:solidFill>
              </a:defRPr>
            </a:pPr>
            <a:r>
              <a:t>• React 18.3 (Component Hierarchy)</a:t>
            </a:r>
            <a:br/>
            <a:r>
              <a:t>• TypeScript 5.6 (Type Safety)</a:t>
            </a:r>
            <a:br/>
            <a:r>
              <a:t>• Vite 6.0 (Sub-Second Dev Engine)</a:t>
            </a:r>
            <a:br/>
            <a:r>
              <a:t>• Tailwind CSS 3.4 (Design Tokens)</a:t>
            </a:r>
            <a:br/>
            <a:r>
              <a:t>• Lucide React &amp; Material Symbols</a:t>
            </a:r>
          </a:p>
        </p:txBody>
      </p:sp>
      <p:sp>
        <p:nvSpPr>
          <p:cNvPr id="6" name="Rounded Rectangle 5"/>
          <p:cNvSpPr/>
          <p:nvPr/>
        </p:nvSpPr>
        <p:spPr>
          <a:xfrm>
            <a:off x="4370832" y="1645920"/>
            <a:ext cx="3456432" cy="2057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Backend &amp; Runtime</a:t>
            </a:r>
          </a:p>
          <a:p>
            <a:pPr>
              <a:defRPr sz="1050">
                <a:solidFill>
                  <a:srgbClr val="0F172A"/>
                </a:solidFill>
              </a:defRPr>
            </a:pPr>
            <a:r>
              <a:t>• Node.js v24 LTS (Async I/O)</a:t>
            </a:r>
            <a:br/>
            <a:r>
              <a:t>• Express 4.21 (RESTful Services)</a:t>
            </a:r>
            <a:br/>
            <a:r>
              <a:t>• TSX (TypeScript Watch Engine)</a:t>
            </a:r>
            <a:br/>
            <a:r>
              <a:t>• CORS &amp; Dotenv Security</a:t>
            </a:r>
            <a:br/>
            <a:r>
              <a:t>• Structured Error Middleware</a:t>
            </a:r>
          </a:p>
        </p:txBody>
      </p:sp>
      <p:sp>
        <p:nvSpPr>
          <p:cNvPr id="7" name="Rounded Rectangle 6"/>
          <p:cNvSpPr/>
          <p:nvPr/>
        </p:nvSpPr>
        <p:spPr>
          <a:xfrm>
            <a:off x="8010144" y="1645920"/>
            <a:ext cx="3456432" cy="2057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AI &amp; Neural Engine</a:t>
            </a:r>
          </a:p>
          <a:p>
            <a:pPr>
              <a:defRPr sz="1050">
                <a:solidFill>
                  <a:srgbClr val="0F172A"/>
                </a:solidFill>
              </a:defRPr>
            </a:pPr>
            <a:r>
              <a:t>• Google Gemini 1.5/2.5 Flash</a:t>
            </a:r>
            <a:br/>
            <a:r>
              <a:t>• @google/genai SDK (v2.21)</a:t>
            </a:r>
            <a:br/>
            <a:r>
              <a:t>• Deterministic Neural Fallback</a:t>
            </a:r>
            <a:br/>
            <a:r>
              <a:t>• Regex NLP Pattern Classification</a:t>
            </a:r>
            <a:br/>
            <a:r>
              <a:t>• Token Overlap Deduplication</a:t>
            </a:r>
          </a:p>
        </p:txBody>
      </p:sp>
      <p:sp>
        <p:nvSpPr>
          <p:cNvPr id="8" name="Rounded Rectangle 7"/>
          <p:cNvSpPr/>
          <p:nvPr/>
        </p:nvSpPr>
        <p:spPr>
          <a:xfrm>
            <a:off x="731520" y="3931920"/>
            <a:ext cx="3456432"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State &amp; Persistence</a:t>
            </a:r>
          </a:p>
          <a:p>
            <a:pPr>
              <a:defRPr sz="1050">
                <a:solidFill>
                  <a:srgbClr val="0F172A"/>
                </a:solidFill>
              </a:defRPr>
            </a:pPr>
            <a:r>
              <a:t>• React Context State Machine</a:t>
            </a:r>
            <a:br/>
            <a:r>
              <a:t>• LocalStorage Client Persistence</a:t>
            </a:r>
            <a:br/>
            <a:r>
              <a:t>• In-Memory ACID Repository</a:t>
            </a:r>
            <a:br/>
            <a:r>
              <a:t>• PostgreSQL / Prisma ORM Ready</a:t>
            </a:r>
            <a:br/>
            <a:r>
              <a:t>• JSON Telemetry Streaming</a:t>
            </a:r>
          </a:p>
        </p:txBody>
      </p:sp>
      <p:sp>
        <p:nvSpPr>
          <p:cNvPr id="9" name="Rounded Rectangle 8"/>
          <p:cNvSpPr/>
          <p:nvPr/>
        </p:nvSpPr>
        <p:spPr>
          <a:xfrm>
            <a:off x="4370832" y="3931920"/>
            <a:ext cx="3456432" cy="2057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Design &amp; UX Tokens</a:t>
            </a:r>
          </a:p>
          <a:p>
            <a:pPr>
              <a:defRPr sz="1050">
                <a:solidFill>
                  <a:srgbClr val="0F172A"/>
                </a:solidFill>
              </a:defRPr>
            </a:pPr>
            <a:r>
              <a:t>• Plus Jakarta Sans &amp; Inter</a:t>
            </a:r>
            <a:br/>
            <a:r>
              <a:t>• Material Symbols Outlined</a:t>
            </a:r>
            <a:br/>
            <a:r>
              <a:t>• Design Tokens from DESIGN.md</a:t>
            </a:r>
            <a:br/>
            <a:r>
              <a:t>• Frosted Glassmorphic HUDs</a:t>
            </a:r>
            <a:br/>
            <a:r>
              <a:t>• 16:9 Responsive Canvas Layout</a:t>
            </a:r>
          </a:p>
        </p:txBody>
      </p:sp>
      <p:sp>
        <p:nvSpPr>
          <p:cNvPr id="10" name="Rounded Rectangle 9"/>
          <p:cNvSpPr/>
          <p:nvPr/>
        </p:nvSpPr>
        <p:spPr>
          <a:xfrm>
            <a:off x="8010144" y="3931920"/>
            <a:ext cx="3456432" cy="2057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Security &amp; Governance</a:t>
            </a:r>
          </a:p>
          <a:p>
            <a:pPr>
              <a:defRPr sz="1050">
                <a:solidFill>
                  <a:srgbClr val="0F172A"/>
                </a:solidFill>
              </a:defRPr>
            </a:pPr>
            <a:r>
              <a:t>• Role-Based Access Control (RBAC)</a:t>
            </a:r>
            <a:br/>
            <a:r>
              <a:t>• Server-Side API Key Shielding</a:t>
            </a:r>
            <a:br/>
            <a:r>
              <a:t>• DPDP Act 2023 Compliant Masking</a:t>
            </a:r>
            <a:br/>
            <a:r>
              <a:t>• Non-Executive AI Guardrail</a:t>
            </a:r>
            <a:br/>
            <a:r>
              <a:t>• Input Sanitization &amp; CORS Guard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AI &amp; SMART CAPABILITIES</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Dual-Engine Neural Triage, Severity Scoring &amp; Deduplication</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188720"/>
          </a:xfrm>
          <a:prstGeom prst="roundRect">
            <a:avLst/>
          </a:prstGeom>
          <a:solidFill>
            <a:srgbClr val="0F172A"/>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INPUT: CITIZEN REPORT   ➔   NEURAL TRIAGE LAYER   ➔   STRUCTURED CHALLENGE DRAFT</a:t>
            </a:r>
          </a:p>
          <a:p>
            <a:pPr>
              <a:defRPr sz="1150">
                <a:solidFill>
                  <a:srgbClr val="FFFFFF"/>
                </a:solidFill>
              </a:defRPr>
            </a:pPr>
            <a:r>
              <a:t>"Dirty foul-smelling tap water in Ward 14 Sangam Vihar for 3 weeks" ➔ Gemini NLP Engine ➔ Domain: Water Sanitation (96.8%), Severity: 89/100, Priority: P1, Solver Match: DTU Hydro-Lab, Duplicate Alert: #CS-8921 (96% Match).</a:t>
            </a:r>
          </a:p>
        </p:txBody>
      </p:sp>
      <p:sp>
        <p:nvSpPr>
          <p:cNvPr id="6" name="Rounded Rectangle 5"/>
          <p:cNvSpPr/>
          <p:nvPr/>
        </p:nvSpPr>
        <p:spPr>
          <a:xfrm>
            <a:off x="731520" y="3017520"/>
            <a:ext cx="2560320" cy="3200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Automated Domain Classification</a:t>
            </a:r>
          </a:p>
          <a:p>
            <a:pPr>
              <a:defRPr sz="1100">
                <a:solidFill>
                  <a:srgbClr val="64748B"/>
                </a:solidFill>
              </a:defRPr>
            </a:pPr>
            <a:r>
              <a:t>Maps unstructured citizen text into municipal sectors (Water Infrastructure, Urban AQI, Road Safety, Agritech) with 96.8% accuracy.</a:t>
            </a:r>
          </a:p>
        </p:txBody>
      </p:sp>
      <p:sp>
        <p:nvSpPr>
          <p:cNvPr id="7" name="Rounded Rectangle 6"/>
          <p:cNvSpPr/>
          <p:nvPr/>
        </p:nvSpPr>
        <p:spPr>
          <a:xfrm>
            <a:off x="3456432" y="3017520"/>
            <a:ext cx="2560320" cy="3200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0–100 Severity Indexing &amp; Priority</a:t>
            </a:r>
          </a:p>
          <a:p>
            <a:pPr>
              <a:defRPr sz="1100">
                <a:solidFill>
                  <a:srgbClr val="64748B"/>
                </a:solidFill>
              </a:defRPr>
            </a:pPr>
            <a:r>
              <a:t>Evaluates public health hazard, population affected, and duration to assign P1 (Emergency), P2 (High), or P3 (Medium) triage.</a:t>
            </a:r>
          </a:p>
        </p:txBody>
      </p:sp>
      <p:sp>
        <p:nvSpPr>
          <p:cNvPr id="8" name="Rounded Rectangle 7"/>
          <p:cNvSpPr/>
          <p:nvPr/>
        </p:nvSpPr>
        <p:spPr>
          <a:xfrm>
            <a:off x="6181344" y="3017520"/>
            <a:ext cx="2560320" cy="3200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Duplicate Detection Engine</a:t>
            </a:r>
          </a:p>
          <a:p>
            <a:pPr>
              <a:defRPr sz="1100">
                <a:solidFill>
                  <a:srgbClr val="64748B"/>
                </a:solidFill>
              </a:defRPr>
            </a:pPr>
            <a:r>
              <a:t>Token overlap &amp; ward coordinate checks compare queries against existing challenges (&gt;60% similarity) without forced auto-merging.</a:t>
            </a:r>
          </a:p>
        </p:txBody>
      </p:sp>
      <p:sp>
        <p:nvSpPr>
          <p:cNvPr id="9" name="Rounded Rectangle 8"/>
          <p:cNvSpPr/>
          <p:nvPr/>
        </p:nvSpPr>
        <p:spPr>
          <a:xfrm>
            <a:off x="8906256" y="3017520"/>
            <a:ext cx="2560320" cy="32004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CivicSolve AI Assistant Copilot</a:t>
            </a:r>
          </a:p>
          <a:p>
            <a:pPr>
              <a:defRPr sz="1100">
                <a:solidFill>
                  <a:srgbClr val="64748B"/>
                </a:solidFill>
              </a:defRPr>
            </a:pPr>
            <a:r>
              <a:t>Role-aware interactive chat that interviews citizens, asks clarifying questions, generates structured challenge drafts, and pre-fills forms.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SECURITY &amp; PRIVACY</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Enterprise-Grade Governance, Data Protection &amp; Legal Guardrails</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Role-Based Access Control (RBAC)</a:t>
            </a:r>
          </a:p>
          <a:p>
            <a:pPr>
              <a:defRPr sz="1100">
                <a:solidFill>
                  <a:srgbClr val="64748B"/>
                </a:solidFill>
              </a:defRPr>
            </a:pPr>
            <a:r>
              <a:t>Strict permission barriers between roles. Citizens cannot alter priority; university squads cannot reassign municipal budgets; only authorized nodal officers can sanction lab routing.</a:t>
            </a:r>
          </a:p>
        </p:txBody>
      </p:sp>
      <p:sp>
        <p:nvSpPr>
          <p:cNvPr id="6" name="Rounded Rectangle 5"/>
          <p:cNvSpPr/>
          <p:nvPr/>
        </p:nvSpPr>
        <p:spPr>
          <a:xfrm>
            <a:off x="6172200" y="1645920"/>
            <a:ext cx="5257800" cy="2057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defRPr>
            </a:pPr>
            <a:r>
              <a:t>Non-Executive AI Guardrail</a:t>
            </a:r>
          </a:p>
          <a:p>
            <a:pPr>
              <a:defRPr sz="1100">
                <a:solidFill>
                  <a:srgbClr val="64748B"/>
                </a:solidFill>
              </a:defRPr>
            </a:pPr>
            <a:r>
              <a:t>The AI copilot is strictly constrained: it NEVER makes binding approvals, promises tenders, or commits municipal funding. Official authority resides exclusively with nodal officers.</a:t>
            </a:r>
          </a:p>
        </p:txBody>
      </p:sp>
      <p:sp>
        <p:nvSpPr>
          <p:cNvPr id="7" name="Rounded Rectangle 6"/>
          <p:cNvSpPr/>
          <p:nvPr/>
        </p:nvSpPr>
        <p:spPr>
          <a:xfrm>
            <a:off x="731520" y="3931920"/>
            <a:ext cx="5257800" cy="2057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6056"/>
                </a:solidFill>
              </a:defRPr>
            </a:pPr>
            <a:r>
              <a:t>DPDP Act 2023 Compliance</a:t>
            </a:r>
          </a:p>
          <a:p>
            <a:pPr>
              <a:defRPr sz="1100">
                <a:solidFill>
                  <a:srgbClr val="64748B"/>
                </a:solidFill>
              </a:defRPr>
            </a:pPr>
            <a:r>
              <a:t>Citizen submissions mask sensitive PII (phone numbers, full names). EXIF geo-match validates photo authenticity without storing invasive citizen device telemetry.</a:t>
            </a:r>
          </a:p>
        </p:txBody>
      </p:sp>
      <p:sp>
        <p:nvSpPr>
          <p:cNvPr id="8" name="Rounded Rectangle 7"/>
          <p:cNvSpPr/>
          <p:nvPr/>
        </p:nvSpPr>
        <p:spPr>
          <a:xfrm>
            <a:off x="6172200" y="3931920"/>
            <a:ext cx="5257800" cy="20574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Server-Side API Key Enclave</a:t>
            </a:r>
          </a:p>
          <a:p>
            <a:pPr>
              <a:defRPr sz="1100">
                <a:solidFill>
                  <a:srgbClr val="64748B"/>
                </a:solidFill>
              </a:defRPr>
            </a:pPr>
            <a:r>
              <a:t>Zero exposure of GEMINI_API_KEY in client JavaScript. All AI requests are proxied through authenticated backend Express endpoints with rate-limiting and payload sanitization.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INNOVATION &amp; USP</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Why CivicSolve Is Uniquely Positioned to Win</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804672"/>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1. Grievance-to-R&amp;D Pipeline</a:t>
            </a:r>
          </a:p>
          <a:p>
            <a:pPr>
              <a:defRPr sz="1050">
                <a:solidFill>
                  <a:srgbClr val="0F172A"/>
                </a:solidFill>
              </a:defRPr>
            </a:pPr>
            <a:r>
              <a:t>Traditional portals close tickets with paper excuses. CivicSolve transforms validated civic bottlenecks into accredited capstone projects for premier university engineering labs.</a:t>
            </a:r>
          </a:p>
        </p:txBody>
      </p:sp>
      <p:sp>
        <p:nvSpPr>
          <p:cNvPr id="6" name="Rounded Rectangle 5"/>
          <p:cNvSpPr/>
          <p:nvPr/>
        </p:nvSpPr>
        <p:spPr>
          <a:xfrm>
            <a:off x="731520" y="2560320"/>
            <a:ext cx="10728655" cy="804672"/>
          </a:xfrm>
          <a:prstGeom prst="roundRect">
            <a:avLst/>
          </a:prstGeom>
          <a:solidFill>
            <a:srgbClr val="FFFFFF"/>
          </a:solidFill>
          <a:ln w="1524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2. Quad-Stakeholder Synergy Mesh</a:t>
            </a:r>
          </a:p>
          <a:p>
            <a:pPr>
              <a:defRPr sz="1050">
                <a:solidFill>
                  <a:srgbClr val="0F172A"/>
                </a:solidFill>
              </a:defRPr>
            </a:pPr>
            <a:r>
              <a:t>The first platform in India to bring the Citizen, Zonal Engineer, Faculty Researcher, and Corporate CSR Director into a single shared workspace.</a:t>
            </a:r>
          </a:p>
        </p:txBody>
      </p:sp>
      <p:sp>
        <p:nvSpPr>
          <p:cNvPr id="7" name="Rounded Rectangle 6"/>
          <p:cNvSpPr/>
          <p:nvPr/>
        </p:nvSpPr>
        <p:spPr>
          <a:xfrm>
            <a:off x="731520" y="3474720"/>
            <a:ext cx="10728655" cy="804672"/>
          </a:xfrm>
          <a:prstGeom prst="roundRect">
            <a:avLst/>
          </a:prstGeom>
          <a:solidFill>
            <a:srgbClr val="FFFFFF"/>
          </a:solidFill>
          <a:ln w="1524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3. Sensor-Verified Telemetry Proof</a:t>
            </a:r>
          </a:p>
          <a:p>
            <a:pPr>
              <a:defRPr sz="1050">
                <a:solidFill>
                  <a:srgbClr val="0F172A"/>
                </a:solidFill>
              </a:defRPr>
            </a:pPr>
            <a:r>
              <a:t>Eliminates contractor fraud and ghost repairs. Project completion requires live IoT sensor verification (pressure, turbidity NTU) before final municipal sign-off.</a:t>
            </a:r>
          </a:p>
        </p:txBody>
      </p:sp>
      <p:sp>
        <p:nvSpPr>
          <p:cNvPr id="8" name="Rounded Rectangle 7"/>
          <p:cNvSpPr/>
          <p:nvPr/>
        </p:nvSpPr>
        <p:spPr>
          <a:xfrm>
            <a:off x="731520" y="4389120"/>
            <a:ext cx="10728655" cy="804672"/>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4. Dual-Engine Neural Architecture</a:t>
            </a:r>
          </a:p>
          <a:p>
            <a:pPr>
              <a:defRPr sz="1050">
                <a:solidFill>
                  <a:srgbClr val="0F172A"/>
                </a:solidFill>
              </a:defRPr>
            </a:pPr>
            <a:r>
              <a:t>Combines high-fidelity Google Gemini LLM reasoning with an instant deterministic fallback engine, guaranteeing 100% uptime in mission-critical municipal triage.</a:t>
            </a:r>
          </a:p>
        </p:txBody>
      </p:sp>
      <p:sp>
        <p:nvSpPr>
          <p:cNvPr id="9" name="Rounded Rectangle 8"/>
          <p:cNvSpPr/>
          <p:nvPr/>
        </p:nvSpPr>
        <p:spPr>
          <a:xfrm>
            <a:off x="731520" y="5303520"/>
            <a:ext cx="10728655" cy="804672"/>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5. Non-Intrusive Duplicate Clustering</a:t>
            </a:r>
          </a:p>
          <a:p>
            <a:pPr>
              <a:defRPr sz="1050">
                <a:solidFill>
                  <a:srgbClr val="0F172A"/>
                </a:solidFill>
              </a:defRPr>
            </a:pPr>
            <a:r>
              <a:t>Empowers citizens to endorse existing ward complaints rather than spamming duplicate tickets, consolidating neighborhood consensus automatically.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FEASIBILITY &amp; SCALABILITY</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Viable Today, Scalable Across 100+ Smart Cities Tomorrow</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56432" cy="22860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563EB"/>
                </a:solidFill>
              </a:defRPr>
            </a:pPr>
            <a:r>
              <a:t>Technical Feasibility</a:t>
            </a:r>
          </a:p>
          <a:p>
            <a:pPr>
              <a:defRPr sz="1050">
                <a:solidFill>
                  <a:srgbClr val="0F172A"/>
                </a:solidFill>
              </a:defRPr>
            </a:pPr>
            <a:r>
              <a:t>• Built on standard React/Node stack</a:t>
            </a:r>
            <a:br/>
            <a:r>
              <a:t>• Zero complex client runtime requirements</a:t>
            </a:r>
            <a:br/>
            <a:r>
              <a:t>• Sub-second response times (&lt;1.5s triage)</a:t>
            </a:r>
            <a:br/>
            <a:r>
              <a:t>• Tested across low-bandwidth connections</a:t>
            </a:r>
            <a:br/>
            <a:r>
              <a:t>• Ready for Docker / MeghRaj cloud</a:t>
            </a:r>
          </a:p>
        </p:txBody>
      </p:sp>
      <p:sp>
        <p:nvSpPr>
          <p:cNvPr id="6" name="Rounded Rectangle 5"/>
          <p:cNvSpPr/>
          <p:nvPr/>
        </p:nvSpPr>
        <p:spPr>
          <a:xfrm>
            <a:off x="4370832" y="1645920"/>
            <a:ext cx="3456432" cy="22860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14B8A6"/>
                </a:solidFill>
              </a:defRPr>
            </a:pPr>
            <a:r>
              <a:t>Financial Feasibility</a:t>
            </a:r>
          </a:p>
          <a:p>
            <a:pPr>
              <a:defRPr sz="1050">
                <a:solidFill>
                  <a:srgbClr val="0F172A"/>
                </a:solidFill>
              </a:defRPr>
            </a:pPr>
            <a:r>
              <a:t>• Zero additional burden on municipal budgets</a:t>
            </a:r>
            <a:br/>
            <a:r>
              <a:t>• Taps into mandatory corporate CSR funds</a:t>
            </a:r>
            <a:br/>
            <a:r>
              <a:t>• Low cloud compute cost (caching + fallback)</a:t>
            </a:r>
            <a:br/>
            <a:r>
              <a:t>• Open-source core stack with no licensing fees</a:t>
            </a:r>
            <a:br/>
            <a:r>
              <a:t>• Free student engineering power</a:t>
            </a:r>
          </a:p>
        </p:txBody>
      </p:sp>
      <p:sp>
        <p:nvSpPr>
          <p:cNvPr id="7" name="Rounded Rectangle 6"/>
          <p:cNvSpPr/>
          <p:nvPr/>
        </p:nvSpPr>
        <p:spPr>
          <a:xfrm>
            <a:off x="8010144" y="1645920"/>
            <a:ext cx="3456432" cy="22860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6056"/>
                </a:solidFill>
              </a:defRPr>
            </a:pPr>
            <a:r>
              <a:t>Operational Viability</a:t>
            </a:r>
          </a:p>
          <a:p>
            <a:pPr>
              <a:defRPr sz="1050">
                <a:solidFill>
                  <a:srgbClr val="0F172A"/>
                </a:solidFill>
              </a:defRPr>
            </a:pPr>
            <a:r>
              <a:t>• Fits directly into existing zonal engineer desks</a:t>
            </a:r>
            <a:br/>
            <a:r>
              <a:t>• Does not replace human authority; empowers triage</a:t>
            </a:r>
            <a:br/>
            <a:r>
              <a:t>• 1-click administrative workflows</a:t>
            </a:r>
            <a:br/>
            <a:r>
              <a:t>• Turnkey onboarding for university colleges</a:t>
            </a:r>
            <a:br/>
            <a:r>
              <a:t>• Transparent public audit accountability</a:t>
            </a:r>
          </a:p>
        </p:txBody>
      </p:sp>
      <p:sp>
        <p:nvSpPr>
          <p:cNvPr id="8" name="Rounded Rectangle 7"/>
          <p:cNvSpPr/>
          <p:nvPr/>
        </p:nvSpPr>
        <p:spPr>
          <a:xfrm>
            <a:off x="731520" y="4160520"/>
            <a:ext cx="10728655" cy="2057400"/>
          </a:xfrm>
          <a:prstGeom prst="roundRect">
            <a:avLst/>
          </a:prstGeom>
          <a:solidFill>
            <a:srgbClr val="0F172A"/>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PHASED NATIONAL DEPLOYMENT ROADMAP</a:t>
            </a:r>
          </a:p>
          <a:p>
            <a:pPr>
              <a:defRPr sz="1050">
                <a:solidFill>
                  <a:srgbClr val="FFFFFF"/>
                </a:solidFill>
              </a:defRPr>
            </a:pPr>
            <a:r>
              <a:t>• Phase 1: Ward Pilot (Current MVP): Deployed in Delhi Jal Board Ward 14 (Sangam Vihar) &amp; Anand Vihar AQI Hotspot. 4 validated challenges.</a:t>
            </a:r>
          </a:p>
          <a:p>
            <a:pPr>
              <a:defRPr sz="1050">
                <a:solidFill>
                  <a:srgbClr val="FFFFFF"/>
                </a:solidFill>
              </a:defRPr>
            </a:pPr>
            <a:r>
              <a:t>• Phase 2: Metropolitan Scale (Months 3–6): Rollout across MCD (Delhi), BBMP (Bengaluru), and BMC (Mumbai). Onboarding 50+ engineering colleges.</a:t>
            </a:r>
          </a:p>
          <a:p>
            <a:pPr>
              <a:defRPr sz="1050">
                <a:solidFill>
                  <a:srgbClr val="FFFFFF"/>
                </a:solidFill>
              </a:defRPr>
            </a:pPr>
            <a:r>
              <a:t>• Phase 3: National Smart Cities (Months 6–18): Integration with MoHUA Smart Cities Mission, CPGRAMS &amp; JanSamwad APIs across 100+ cities and 500+ universities.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EXPECTED MEASURABLE IMPACT</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Quantified Civic Outcomes &amp; Sustainable Development Goals (SDGs)</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2560320" cy="24688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2563EB"/>
                </a:solidFill>
              </a:defRPr>
            </a:pPr>
            <a:r>
              <a:t>90% REDUCTION</a:t>
            </a:r>
          </a:p>
          <a:p>
            <a:pPr>
              <a:defRPr sz="1100" b="1">
                <a:solidFill>
                  <a:srgbClr val="0F172A"/>
                </a:solidFill>
              </a:defRPr>
            </a:pPr>
            <a:r>
              <a:t>In Problem-to-Lab Routing Time</a:t>
            </a:r>
          </a:p>
          <a:p>
            <a:pPr>
              <a:defRPr sz="1000">
                <a:solidFill>
                  <a:srgbClr val="64748B"/>
                </a:solidFill>
              </a:defRPr>
            </a:pPr>
            <a:r>
              <a:t>Reduces bureaucratic delay from 14 days to same-day automated lab vector assignment.</a:t>
            </a:r>
          </a:p>
        </p:txBody>
      </p:sp>
      <p:sp>
        <p:nvSpPr>
          <p:cNvPr id="6" name="Rounded Rectangle 5"/>
          <p:cNvSpPr/>
          <p:nvPr/>
        </p:nvSpPr>
        <p:spPr>
          <a:xfrm>
            <a:off x="3456432" y="1645920"/>
            <a:ext cx="2560320" cy="246888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14B8A6"/>
                </a:solidFill>
              </a:defRPr>
            </a:pPr>
            <a:r>
              <a:t>1.4 SECONDS</a:t>
            </a:r>
          </a:p>
          <a:p>
            <a:pPr>
              <a:defRPr sz="1100" b="1">
                <a:solidFill>
                  <a:srgbClr val="0F172A"/>
                </a:solidFill>
              </a:defRPr>
            </a:pPr>
            <a:r>
              <a:t>Median Neural Triage Latency</a:t>
            </a:r>
          </a:p>
          <a:p>
            <a:pPr>
              <a:defRPr sz="1000">
                <a:solidFill>
                  <a:srgbClr val="64748B"/>
                </a:solidFill>
              </a:defRPr>
            </a:pPr>
            <a:r>
              <a:t>Instant domain classification, 0-100 severity risk scoring, and priority tiering.</a:t>
            </a:r>
          </a:p>
        </p:txBody>
      </p:sp>
      <p:sp>
        <p:nvSpPr>
          <p:cNvPr id="7" name="Rounded Rectangle 6"/>
          <p:cNvSpPr/>
          <p:nvPr/>
        </p:nvSpPr>
        <p:spPr>
          <a:xfrm>
            <a:off x="6181344" y="1645920"/>
            <a:ext cx="2560320" cy="246888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006056"/>
                </a:solidFill>
              </a:defRPr>
            </a:pPr>
            <a:r>
              <a:t>100% AUDIT PROOF</a:t>
            </a:r>
          </a:p>
          <a:p>
            <a:pPr>
              <a:defRPr sz="1100" b="1">
                <a:solidFill>
                  <a:srgbClr val="0F172A"/>
                </a:solidFill>
              </a:defRPr>
            </a:pPr>
            <a:r>
              <a:t>Zero Ghost Field Closures</a:t>
            </a:r>
          </a:p>
          <a:p>
            <a:pPr>
              <a:defRPr sz="1000">
                <a:solidFill>
                  <a:srgbClr val="64748B"/>
                </a:solidFill>
              </a:defRPr>
            </a:pPr>
            <a:r>
              <a:t>Verifiable IoT SCADA telemetry streams validate prototype performance in real time.</a:t>
            </a:r>
          </a:p>
        </p:txBody>
      </p:sp>
      <p:sp>
        <p:nvSpPr>
          <p:cNvPr id="8" name="Rounded Rectangle 7"/>
          <p:cNvSpPr/>
          <p:nvPr/>
        </p:nvSpPr>
        <p:spPr>
          <a:xfrm>
            <a:off x="8906256" y="1645920"/>
            <a:ext cx="2560320" cy="246888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59E0B"/>
                </a:solidFill>
              </a:defRPr>
            </a:pPr>
            <a:r>
              <a:t>₹38.4 CRORE</a:t>
            </a:r>
          </a:p>
          <a:p>
            <a:pPr>
              <a:defRPr sz="1100" b="1">
                <a:solidFill>
                  <a:srgbClr val="0F172A"/>
                </a:solidFill>
              </a:defRPr>
            </a:pPr>
            <a:r>
              <a:t>Estimated Municipal Savings / 100 Wards</a:t>
            </a:r>
          </a:p>
          <a:p>
            <a:pPr>
              <a:defRPr sz="1000">
                <a:solidFill>
                  <a:srgbClr val="64748B"/>
                </a:solidFill>
              </a:defRPr>
            </a:pPr>
            <a:r>
              <a:t>Preventative leak detection and automated triage reduces emergency excavation costs.</a:t>
            </a:r>
          </a:p>
        </p:txBody>
      </p:sp>
      <p:sp>
        <p:nvSpPr>
          <p:cNvPr id="9" name="Rounded Rectangle 8"/>
          <p:cNvSpPr/>
          <p:nvPr/>
        </p:nvSpPr>
        <p:spPr>
          <a:xfrm>
            <a:off x="731520" y="4343400"/>
            <a:ext cx="10728655" cy="1874519"/>
          </a:xfrm>
          <a:prstGeom prst="roundRect">
            <a:avLst/>
          </a:prstGeom>
          <a:solidFill>
            <a:srgbClr val="0F172A"/>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UNITED NATIONS SUSTAINABLE DEVELOPMENT GOALS (SDG) ALIGNMENT</a:t>
            </a:r>
          </a:p>
          <a:p>
            <a:pPr>
              <a:defRPr sz="1050">
                <a:solidFill>
                  <a:srgbClr val="FFFFFF"/>
                </a:solidFill>
              </a:defRPr>
            </a:pPr>
            <a:r>
              <a:t>• SDG 6 (Clean Water &amp; Sanitation): Ward 14 AquaSense pipeline telemetry &amp; turbidity mitigation (#CS-8921).</a:t>
            </a:r>
          </a:p>
          <a:p>
            <a:pPr>
              <a:defRPr sz="1050">
                <a:solidFill>
                  <a:srgbClr val="FFFFFF"/>
                </a:solidFill>
              </a:defRPr>
            </a:pPr>
            <a:r>
              <a:t>• SDG 11 (Sustainable Cities &amp; Communities): Anand Vihar terminal atmospheric particulate &amp; misting grid (#CS-8919).</a:t>
            </a:r>
          </a:p>
          <a:p>
            <a:pPr>
              <a:defRPr sz="1050">
                <a:solidFill>
                  <a:srgbClr val="FFFFFF"/>
                </a:solidFill>
              </a:defRPr>
            </a:pPr>
            <a:r>
              <a:t>• SDG 2 (Zero Hunger &amp; Agritech): Nashik decentralized solar cold storage preventing post-harvest crop loss (#CS-8902).</a:t>
            </a:r>
          </a:p>
          <a:p>
            <a:pPr>
              <a:defRPr sz="1050">
                <a:solidFill>
                  <a:srgbClr val="FFFFFF"/>
                </a:solidFill>
              </a:defRPr>
            </a:pPr>
            <a:r>
              <a:t>• SDG 9 (Industry, Innovation &amp; Infrastructure): Direct university-industry CSR technology transfer and pilot deployment.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FUTURE SCOPE</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Expanding Capabilities for the Next Generation of Civic Tech</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57800"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563EB"/>
                </a:solidFill>
              </a:defRPr>
            </a:pPr>
            <a:r>
              <a:t>🗣️ Bhashini Multilingual Voice Intake</a:t>
            </a:r>
          </a:p>
          <a:p>
            <a:pPr>
              <a:defRPr sz="1100">
                <a:solidFill>
                  <a:srgbClr val="64748B"/>
                </a:solidFill>
              </a:defRPr>
            </a:pPr>
            <a:r>
              <a:t>Integration with Digital India's Bhashini API to accept voice reports in 22 official Indian languages, democratizing access for non-literate citizens.</a:t>
            </a:r>
          </a:p>
        </p:txBody>
      </p:sp>
      <p:sp>
        <p:nvSpPr>
          <p:cNvPr id="6" name="Rounded Rectangle 5"/>
          <p:cNvSpPr/>
          <p:nvPr/>
        </p:nvSpPr>
        <p:spPr>
          <a:xfrm>
            <a:off x="6172200" y="1645920"/>
            <a:ext cx="5257800" cy="2057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defRPr>
            </a:pPr>
            <a:r>
              <a:t>📱 Edge AI Mobile App &amp; Offline GIS</a:t>
            </a:r>
          </a:p>
          <a:p>
            <a:pPr>
              <a:defRPr sz="1100">
                <a:solidFill>
                  <a:srgbClr val="64748B"/>
                </a:solidFill>
              </a:defRPr>
            </a:pPr>
            <a:r>
              <a:t>On-device lightweight computer vision for real-time pothole depth and water turbidity estimation even without active 4G network connectivity.</a:t>
            </a:r>
          </a:p>
        </p:txBody>
      </p:sp>
      <p:sp>
        <p:nvSpPr>
          <p:cNvPr id="7" name="Rounded Rectangle 6"/>
          <p:cNvSpPr/>
          <p:nvPr/>
        </p:nvSpPr>
        <p:spPr>
          <a:xfrm>
            <a:off x="731520" y="3931920"/>
            <a:ext cx="5257800" cy="2057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6056"/>
                </a:solidFill>
              </a:defRPr>
            </a:pPr>
            <a:r>
              <a:t>⛓️ Blockchain CSR Milestone Escrow</a:t>
            </a:r>
          </a:p>
          <a:p>
            <a:pPr>
              <a:defRPr sz="1100">
                <a:solidFill>
                  <a:srgbClr val="64748B"/>
                </a:solidFill>
              </a:defRPr>
            </a:pPr>
            <a:r>
              <a:t>Smart contracts automatically releasing corporate CSR grant tranches only when sensor telemetry verifies TRL milestone deliverables.</a:t>
            </a:r>
          </a:p>
        </p:txBody>
      </p:sp>
      <p:sp>
        <p:nvSpPr>
          <p:cNvPr id="8" name="Rounded Rectangle 7"/>
          <p:cNvSpPr/>
          <p:nvPr/>
        </p:nvSpPr>
        <p:spPr>
          <a:xfrm>
            <a:off x="6172200" y="3931920"/>
            <a:ext cx="5257800" cy="20574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 ISRO Bhuvan Satellite &amp; Drone Sync</a:t>
            </a:r>
          </a:p>
          <a:p>
            <a:pPr>
              <a:defRPr sz="1100">
                <a:solidFill>
                  <a:srgbClr val="64748B"/>
                </a:solidFill>
              </a:defRPr>
            </a:pPr>
            <a:r>
              <a:t>Direct integration with ISRO Bhuvan geospatial maps and municipal drone inspection feeds for automated urban infrastructure anomaly detection.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LIVE DEMO &amp; SYSTEM PROOF</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A Fully Built, Interactive &amp; Responsive Platform Running Live</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56432"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2563EB"/>
                </a:solidFill>
              </a:defRPr>
            </a:pPr>
            <a:r>
              <a:t>PUBLIC PORTAL &amp; STEPPER</a:t>
            </a:r>
          </a:p>
          <a:p>
            <a:pPr>
              <a:defRPr sz="1000" i="1">
                <a:solidFill>
                  <a:srgbClr val="2563EB"/>
                </a:solidFill>
              </a:defRPr>
            </a:pPr>
            <a:r>
              <a:t>Route: /</a:t>
            </a:r>
          </a:p>
          <a:p>
            <a:pPr>
              <a:defRPr sz="1050">
                <a:solidFill>
                  <a:srgbClr val="64748B"/>
                </a:solidFill>
              </a:defRPr>
            </a:pPr>
            <a:r>
              <a:t>8-stage interactive stepper, live metrics ticker, stakeholder matrix, featured projects.</a:t>
            </a:r>
          </a:p>
        </p:txBody>
      </p:sp>
      <p:sp>
        <p:nvSpPr>
          <p:cNvPr id="6" name="Rounded Rectangle 5"/>
          <p:cNvSpPr/>
          <p:nvPr/>
        </p:nvSpPr>
        <p:spPr>
          <a:xfrm>
            <a:off x="4370832" y="1645920"/>
            <a:ext cx="3456432" cy="2057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14B8A6"/>
                </a:solidFill>
              </a:defRPr>
            </a:pPr>
            <a:r>
              <a:t>CITIZEN INTAKE &amp; AI TRIAGE</a:t>
            </a:r>
          </a:p>
          <a:p>
            <a:pPr>
              <a:defRPr sz="1000" i="1">
                <a:solidFill>
                  <a:srgbClr val="2563EB"/>
                </a:solidFill>
              </a:defRPr>
            </a:pPr>
            <a:r>
              <a:t>Route: /report</a:t>
            </a:r>
          </a:p>
          <a:p>
            <a:pPr>
              <a:defRPr sz="1050">
                <a:solidFill>
                  <a:srgbClr val="64748B"/>
                </a:solidFill>
              </a:defRPr>
            </a:pPr>
            <a:r>
              <a:t>GPS HUD (28.5033° N, 77.2482° E), EXIF photo upload, live confidence gauge, severity scoring.</a:t>
            </a:r>
          </a:p>
        </p:txBody>
      </p:sp>
      <p:sp>
        <p:nvSpPr>
          <p:cNvPr id="7" name="Rounded Rectangle 6"/>
          <p:cNvSpPr/>
          <p:nvPr/>
        </p:nvSpPr>
        <p:spPr>
          <a:xfrm>
            <a:off x="8010144" y="1645920"/>
            <a:ext cx="3456432" cy="205740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006056"/>
                </a:solidFill>
              </a:defRPr>
            </a:pPr>
            <a:r>
              <a:t>GOVT ADMIN DASHBOARD</a:t>
            </a:r>
          </a:p>
          <a:p>
            <a:pPr>
              <a:defRPr sz="1000" i="1">
                <a:solidFill>
                  <a:srgbClr val="2563EB"/>
                </a:solidFill>
              </a:defRPr>
            </a:pPr>
            <a:r>
              <a:t>Route: /admin</a:t>
            </a:r>
          </a:p>
          <a:p>
            <a:pPr>
              <a:defRPr sz="1050">
                <a:solidFill>
                  <a:srgbClr val="64748B"/>
                </a:solidFill>
              </a:defRPr>
            </a:pPr>
            <a:r>
              <a:t>Filterable triage queue, 1-click Approve &amp; Route to Lab, live sensor array health, audit timeline.</a:t>
            </a:r>
          </a:p>
        </p:txBody>
      </p:sp>
      <p:sp>
        <p:nvSpPr>
          <p:cNvPr id="8" name="Rounded Rectangle 7"/>
          <p:cNvSpPr/>
          <p:nvPr/>
        </p:nvSpPr>
        <p:spPr>
          <a:xfrm>
            <a:off x="731520" y="3931920"/>
            <a:ext cx="3456432" cy="205740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2563EB"/>
                </a:solidFill>
              </a:defRPr>
            </a:pPr>
            <a:r>
              <a:t>UNIVERSITY PROJECT WORKSPACE</a:t>
            </a:r>
          </a:p>
          <a:p>
            <a:pPr>
              <a:defRPr sz="1000" i="1">
                <a:solidFill>
                  <a:srgbClr val="2563EB"/>
                </a:solidFill>
              </a:defRPr>
            </a:pPr>
            <a:r>
              <a:t>Route: /workspace</a:t>
            </a:r>
          </a:p>
          <a:p>
            <a:pPr>
              <a:defRPr sz="1050">
                <a:solidFill>
                  <a:srgbClr val="64748B"/>
                </a:solidFill>
              </a:defRPr>
            </a:pPr>
            <a:r>
              <a:t>Project AquaSense (#CS-8921), Quad stakeholder cards, sprint checklist, live telemetry curves.</a:t>
            </a:r>
          </a:p>
        </p:txBody>
      </p:sp>
      <p:sp>
        <p:nvSpPr>
          <p:cNvPr id="9" name="Rounded Rectangle 8"/>
          <p:cNvSpPr/>
          <p:nvPr/>
        </p:nvSpPr>
        <p:spPr>
          <a:xfrm>
            <a:off x="4370832" y="3931920"/>
            <a:ext cx="3456432" cy="205740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14B8A6"/>
                </a:solidFill>
              </a:defRPr>
            </a:pPr>
            <a:r>
              <a:t>CHALLENGES REPOSITORY</a:t>
            </a:r>
          </a:p>
          <a:p>
            <a:pPr>
              <a:defRPr sz="1000" i="1">
                <a:solidFill>
                  <a:srgbClr val="2563EB"/>
                </a:solidFill>
              </a:defRPr>
            </a:pPr>
            <a:r>
              <a:t>Route: /challenges</a:t>
            </a:r>
          </a:p>
          <a:p>
            <a:pPr>
              <a:defRPr sz="1050">
                <a:solidFill>
                  <a:srgbClr val="64748B"/>
                </a:solidFill>
              </a:defRPr>
            </a:pPr>
            <a:r>
              <a:t>Searchable national repository of verified civic challenges with citizen endorsements.</a:t>
            </a:r>
          </a:p>
        </p:txBody>
      </p:sp>
      <p:sp>
        <p:nvSpPr>
          <p:cNvPr id="10" name="Rounded Rectangle 9"/>
          <p:cNvSpPr/>
          <p:nvPr/>
        </p:nvSpPr>
        <p:spPr>
          <a:xfrm>
            <a:off x="8010144" y="3931920"/>
            <a:ext cx="3456432" cy="205740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50" b="1">
                <a:solidFill>
                  <a:srgbClr val="F59E0B"/>
                </a:solidFill>
              </a:defRPr>
            </a:pPr>
            <a:r>
              <a:t>CIVICSOLVE AI ASSISTANT COPILOT</a:t>
            </a:r>
          </a:p>
          <a:p>
            <a:pPr>
              <a:defRPr sz="1000" i="1">
                <a:solidFill>
                  <a:srgbClr val="2563EB"/>
                </a:solidFill>
              </a:defRPr>
            </a:pPr>
            <a:r>
              <a:t>Floating Widget</a:t>
            </a:r>
          </a:p>
          <a:p>
            <a:pPr>
              <a:defRPr sz="1050">
                <a:solidFill>
                  <a:srgbClr val="64748B"/>
                </a:solidFill>
              </a:defRPr>
            </a:pPr>
            <a:r>
              <a:t>Role-aware interactive chat, structured challenge drafts, duplicate check cards with form pre-fill.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11480"/>
            <a:ext cx="3657600" cy="320040"/>
          </a:xfrm>
          <a:prstGeom prst="rect">
            <a:avLst/>
          </a:prstGeom>
          <a:noFill/>
        </p:spPr>
        <p:txBody>
          <a:bodyPr wrap="square" lIns="0" rIns="0" tIns="0" bIns="0">
            <a:spAutoFit/>
          </a:bodyPr>
          <a:lstStyle/>
          <a:p>
            <a:pPr>
              <a:defRPr sz="1000" b="1">
                <a:solidFill>
                  <a:srgbClr val="2563EB"/>
                </a:solidFill>
                <a:latin typeface="Arial"/>
              </a:defRPr>
            </a:pPr>
            <a:r>
              <a:t>SUMMARY &amp; CONCLUSION</a:t>
            </a:r>
          </a:p>
        </p:txBody>
      </p:sp>
      <p:sp>
        <p:nvSpPr>
          <p:cNvPr id="3" name="TextBox 2"/>
          <p:cNvSpPr txBox="1"/>
          <p:nvPr/>
        </p:nvSpPr>
        <p:spPr>
          <a:xfrm>
            <a:off x="731520" y="685800"/>
            <a:ext cx="10515600" cy="594360"/>
          </a:xfrm>
          <a:prstGeom prst="rect">
            <a:avLst/>
          </a:prstGeom>
          <a:noFill/>
        </p:spPr>
        <p:txBody>
          <a:bodyPr wrap="square" lIns="0" rIns="0" tIns="0" bIns="0">
            <a:spAutoFit/>
          </a:bodyPr>
          <a:lstStyle/>
          <a:p>
            <a:pPr>
              <a:defRPr sz="2200" b="1">
                <a:solidFill>
                  <a:srgbClr val="0F172A"/>
                </a:solidFill>
                <a:latin typeface="Arial"/>
              </a:defRPr>
            </a:pPr>
            <a:r>
              <a:t>Transforming Public Problem-Solving for India</a:t>
            </a:r>
          </a:p>
        </p:txBody>
      </p:sp>
      <p:sp>
        <p:nvSpPr>
          <p:cNvPr id="4" name="Rectangle 3"/>
          <p:cNvSpPr/>
          <p:nvPr/>
        </p:nvSpPr>
        <p:spPr>
          <a:xfrm>
            <a:off x="731520" y="1298448"/>
            <a:ext cx="10728655" cy="1828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3456432" cy="2468880"/>
          </a:xfrm>
          <a:prstGeom prst="roundRect">
            <a:avLst/>
          </a:prstGeom>
          <a:solidFill>
            <a:srgbClr val="FFFFFF"/>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EF4444"/>
                </a:solidFill>
              </a:defRPr>
            </a:pPr>
            <a:r>
              <a:t>THE PROBLEM</a:t>
            </a:r>
          </a:p>
          <a:p>
            <a:pPr>
              <a:defRPr sz="1100">
                <a:solidFill>
                  <a:srgbClr val="0F172A"/>
                </a:solidFill>
              </a:defRPr>
            </a:pPr>
            <a:r>
              <a:t>Millions of localized civic pain points vanish into bureaucratic complaint boxes with no engineering solver pathway or funding.</a:t>
            </a:r>
          </a:p>
        </p:txBody>
      </p:sp>
      <p:sp>
        <p:nvSpPr>
          <p:cNvPr id="6" name="Rounded Rectangle 5"/>
          <p:cNvSpPr/>
          <p:nvPr/>
        </p:nvSpPr>
        <p:spPr>
          <a:xfrm>
            <a:off x="4370832" y="1645920"/>
            <a:ext cx="3456432" cy="2468880"/>
          </a:xfrm>
          <a:prstGeom prst="roundRect">
            <a:avLst/>
          </a:prstGeom>
          <a:solidFill>
            <a:srgbClr val="FFFFFF"/>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defRPr>
            </a:pPr>
            <a:r>
              <a:t>THE INNOVATION</a:t>
            </a:r>
          </a:p>
          <a:p>
            <a:pPr>
              <a:defRPr sz="1100">
                <a:solidFill>
                  <a:srgbClr val="0F172A"/>
                </a:solidFill>
              </a:defRPr>
            </a:pPr>
            <a:r>
              <a:t>A verifiable 8-stage innovation lifecycle bridging Citizens, City Engineers, University Labs, and Corporate CSR Mentors.</a:t>
            </a:r>
          </a:p>
        </p:txBody>
      </p:sp>
      <p:sp>
        <p:nvSpPr>
          <p:cNvPr id="7" name="Rounded Rectangle 6"/>
          <p:cNvSpPr/>
          <p:nvPr/>
        </p:nvSpPr>
        <p:spPr>
          <a:xfrm>
            <a:off x="8010144" y="1645920"/>
            <a:ext cx="3456432" cy="2468880"/>
          </a:xfrm>
          <a:prstGeom prst="roundRect">
            <a:avLst/>
          </a:prstGeom>
          <a:solidFill>
            <a:srgbClr val="FFFFFF"/>
          </a:solidFill>
          <a:ln w="19050">
            <a:solidFill>
              <a:srgbClr val="0060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6056"/>
                </a:solidFill>
              </a:defRPr>
            </a:pPr>
            <a:r>
              <a:t>THE VALUE</a:t>
            </a:r>
          </a:p>
          <a:p>
            <a:pPr>
              <a:defRPr sz="1100">
                <a:solidFill>
                  <a:srgbClr val="0F172A"/>
                </a:solidFill>
              </a:defRPr>
            </a:pPr>
            <a:r>
              <a:t>Grassroots civic complaints become accredited, funded, deployable public infrastructure verified by live IoT sensor telemetry.</a:t>
            </a:r>
          </a:p>
        </p:txBody>
      </p:sp>
      <p:sp>
        <p:nvSpPr>
          <p:cNvPr id="8" name="Rounded Rectangle 7"/>
          <p:cNvSpPr/>
          <p:nvPr/>
        </p:nvSpPr>
        <p:spPr>
          <a:xfrm>
            <a:off x="731520" y="4343400"/>
            <a:ext cx="10728655" cy="1874519"/>
          </a:xfrm>
          <a:prstGeom prst="roundRect">
            <a:avLst/>
          </a:prstGeom>
          <a:solidFill>
            <a:srgbClr val="0F172A"/>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OUR VISION FOR SMART INDIA HACKATHON 2024</a:t>
            </a:r>
          </a:p>
          <a:p>
            <a:pPr algn="ctr">
              <a:defRPr sz="1500" b="1">
                <a:solidFill>
                  <a:srgbClr val="FFFFFF"/>
                </a:solidFill>
              </a:defRPr>
            </a:pPr>
            <a:r>
              <a:t>"CivicSolve proves that when you bridge citizens, government, universities, and industry through intelligent technology, every societal problem becomes an opportunity for national innovation."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1371600"/>
            <a:ext cx="10728655" cy="1828800"/>
          </a:xfrm>
          <a:prstGeom prst="rect">
            <a:avLst/>
          </a:prstGeom>
          <a:noFill/>
        </p:spPr>
        <p:txBody>
          <a:bodyPr wrap="square">
            <a:spAutoFit/>
          </a:bodyPr>
          <a:lstStyle/>
          <a:p>
            <a:pPr algn="ctr">
              <a:defRPr sz="5600" b="1">
                <a:solidFill>
                  <a:srgbClr val="FFFFFF"/>
                </a:solidFill>
                <a:latin typeface="Arial"/>
              </a:defRPr>
            </a:pPr>
            <a:r>
              <a:t>THANK YOU!</a:t>
            </a:r>
          </a:p>
          <a:p>
            <a:pPr algn="ctr">
              <a:defRPr sz="2200">
                <a:solidFill>
                  <a:srgbClr val="14B8A6"/>
                </a:solidFill>
                <a:latin typeface="Arial"/>
              </a:defRPr>
            </a:pPr>
            <a:r>
              <a:t>Questions, Feedback &amp; Live Demonstration</a:t>
            </a:r>
          </a:p>
        </p:txBody>
      </p:sp>
      <p:sp>
        <p:nvSpPr>
          <p:cNvPr id="3" name="Rounded Rectangle 2"/>
          <p:cNvSpPr/>
          <p:nvPr/>
        </p:nvSpPr>
        <p:spPr>
          <a:xfrm>
            <a:off x="1828800" y="3657600"/>
            <a:ext cx="8534095" cy="228600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4B8A6"/>
                </a:solidFill>
              </a:defRPr>
            </a:pPr>
            <a:r>
              <a:t>PROJECT CIVICSOLVE  •  SMART INDIA HACKATHON 2024</a:t>
            </a:r>
          </a:p>
          <a:p>
            <a:pPr algn="ctr">
              <a:defRPr sz="1200">
                <a:solidFill>
                  <a:srgbClr val="FFFFFF"/>
                </a:solidFill>
              </a:defRPr>
            </a:pPr>
            <a:r>
              <a:t>Team Name: [ENTER TEAM NAME]</a:t>
            </a:r>
          </a:p>
          <a:p>
            <a:pPr algn="ctr">
              <a:defRPr sz="1200">
                <a:solidFill>
                  <a:srgbClr val="FFFFFF"/>
                </a:solidFill>
              </a:defRPr>
            </a:pPr>
            <a:r>
              <a:t>College / Institution: [ENTER COLLEGE NAME]</a:t>
            </a:r>
          </a:p>
          <a:p>
            <a:pPr algn="ctr">
              <a:defRPr sz="1200">
                <a:solidFill>
                  <a:srgbClr val="FFFFFF"/>
                </a:solidFill>
              </a:defRPr>
            </a:pPr>
            <a:r>
              <a:t>Problem Statement ID: [ENTER SIH PROBLEM STATEMENT TITLE &amp; ID]</a:t>
            </a:r>
          </a:p>
          <a:p>
            <a:pPr algn="ctr">
              <a:defRPr sz="1200">
                <a:solidFill>
                  <a:srgbClr val="FFFFFF"/>
                </a:solidFill>
              </a:defRPr>
            </a:pPr>
            <a:r>
              <a:t>Live Demonstration URL: http://localhost:5173 (Port 3001 Backend API)</a:t>
            </a:r>
          </a:p>
          <a:p>
            <a:pPr algn="ctr">
              <a:defRPr sz="1200">
                <a:solidFill>
                  <a:srgbClr val="FFFFFF"/>
                </a:solidFill>
              </a:defRPr>
            </a:pPr>
            <a:r>
              <a:t>Status: Fully Built, Verified &amp; Ready for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